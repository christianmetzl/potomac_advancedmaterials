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822960"/>
            <a:ext cx="109728" cy="10972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247120" y="1463040"/>
            <a:ext cx="155448" cy="15544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2377440"/>
            <a:ext cx="201168" cy="20116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12880" y="3108960"/>
            <a:ext cx="109728" cy="10972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0" y="3931920"/>
            <a:ext cx="155448" cy="15544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0" y="4846320"/>
            <a:ext cx="201168" cy="20116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89920" y="5760720"/>
            <a:ext cx="109728" cy="10972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6035040"/>
            <a:ext cx="155448" cy="15544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5577840"/>
            <a:ext cx="201168" cy="20116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4754880"/>
            <a:ext cx="109728" cy="10972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22960" y="777240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979322"/>
            <a:ext cx="373075" cy="37307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77240" y="17373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</a:rPr>
              <a:t>MATGEN-Q</a:t>
            </a:r>
            <a:endParaRPr lang="en-US" sz="5400" dirty="0"/>
          </a:p>
        </p:txBody>
      </p:sp>
      <p:sp>
        <p:nvSpPr>
          <p:cNvPr id="15" name="Text 12"/>
          <p:cNvSpPr/>
          <p:nvPr/>
        </p:nvSpPr>
        <p:spPr>
          <a:xfrm>
            <a:off x="822960" y="2697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The Audit Layer for Materials R&amp;D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2960" y="34290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Computational chemistry that knows which side of the truth it is on —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and proves when the standard methods are silently wrong.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22960" y="4892040"/>
            <a:ext cx="4754880" cy="0"/>
          </a:xfrm>
          <a:prstGeom prst="line">
            <a:avLst/>
          </a:prstGeom>
          <a:noFill/>
          <a:ln w="19050">
            <a:solidFill>
              <a:srgbClr val="232E6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074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00000"/>
                </a:solidFill>
              </a:rPr>
              <a:t>Team EIGENNEXUS  ·  GIC 2026 Advanced Materials Finalist (Mitsubishi Chemical &amp; AIST)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00000"/>
                </a:solidFill>
              </a:rPr>
              <a:t>Every number on every slide is committed, reproducible evidence — one command, 24 automated checks.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0000"/>
                </a:solidFill>
              </a:rPr>
              <a:t>Every “gold standard” fails silently — we caught all three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Materials R&amp;D advances candidates to synthesis based on computed numbers nobody can double-check. We audited the standard toolchain on real industrial chemistry: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</a:rPr>
              <a:t>SCREENING TIER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417320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DFT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96112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000000"/>
                </a:solidFill>
              </a:rPr>
              <a:t>Wrong ground state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896112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0000"/>
                </a:solidFill>
              </a:rPr>
              <a:t>CrO spin state: functionals disagree by 1.9 eV; B3LYP inverts the answer outright — a screen built on it mis-ranks every CrO-like candidate.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16552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205740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</a:rPr>
              <a:t>ACCURACY TIER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193792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CCSD(T)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4672584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000000"/>
                </a:solidFill>
              </a:rPr>
              <a:t>Off by 217 mHa — confidently</a:t>
            </a:r>
            <a:endParaRPr lang="en-US" sz="1750" dirty="0"/>
          </a:p>
        </p:txBody>
      </p:sp>
      <p:sp>
        <p:nvSpPr>
          <p:cNvPr id="15" name="Text 11"/>
          <p:cNvSpPr/>
          <p:nvPr/>
        </p:nvSpPr>
        <p:spPr>
          <a:xfrm>
            <a:off x="4672584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0000"/>
                </a:solidFill>
              </a:rPr>
              <a:t>Collapses non-variationally below the exact energy on bond-breaking — precise-looking, unphysical, and it never warns you.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93024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05740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70264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</a:rPr>
              <a:t>REFERENCE TIER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8970264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DMRG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8449056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000000"/>
                </a:solidFill>
              </a:rPr>
              <a:t>~3 mHa silent truncation error</a:t>
            </a:r>
            <a:endParaRPr lang="en-US" sz="1750" dirty="0"/>
          </a:p>
        </p:txBody>
      </p:sp>
      <p:sp>
        <p:nvSpPr>
          <p:cNvPr id="21" name="Text 16"/>
          <p:cNvSpPr/>
          <p:nvPr/>
        </p:nvSpPr>
        <p:spPr>
          <a:xfrm>
            <a:off x="8449056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00000"/>
                </a:solidFill>
              </a:rPr>
              <a:t>At a realistic 38-qubit transition-metal problem, the heavy-artillery reference itself was off by ~1.9 kcal/mol — detected only by our audit.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40080" y="5349240"/>
            <a:ext cx="10927080" cy="960120"/>
          </a:xfrm>
          <a:prstGeom prst="roundRect">
            <a:avLst>
              <a:gd name="adj" fmla="val 8571"/>
            </a:avLst>
          </a:prstGeom>
          <a:solidFill>
            <a:srgbClr val="16205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605272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000000"/>
                </a:solidFill>
              </a:rPr>
              <a:t>The cost of a silent failure: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000000"/>
                </a:solidFill>
              </a:rPr>
              <a:t>one mis-ranked candidate sends a synthesis campaign after a dead end — $100k to $1M+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000000"/>
                </a:solidFill>
              </a:rPr>
              <a:t>in staff, materials, and lost time before the lab finds out.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0000"/>
                </a:solidFill>
              </a:rPr>
              <a:t>The audit: a measuring tape that can only read long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Three properties no standard method has — each mathematical or demonstrated, not promised: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6654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576" y="2237720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192938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0000"/>
                </a:solidFill>
              </a:rPr>
              <a:t>One-sided by construction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1874520" y="231343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0000"/>
                </a:solidFill>
              </a:rPr>
              <a:t>Its energy can never fall below the truth — a guarantee of mathematics, not testing. It always knows which side of the answer it is on.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20040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348386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576" y="3655040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74520" y="334670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0000"/>
                </a:solidFill>
              </a:rPr>
              <a:t>Self-certifying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1874520" y="37307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0000"/>
                </a:solidFill>
              </a:rPr>
              <a:t>Every result carries its own error estimate that shrinks as compute is added (demonstrated tracking reality at R² = 0.999). When the bar is under chemical accuracy, the number is the truth for every practical purpose.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61772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490118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576" y="5072360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76402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0000"/>
                </a:solidFill>
              </a:rPr>
              <a:t>Convicts other methods — even before full convergence</a:t>
            </a:r>
            <a:endParaRPr lang="en-US" sz="1850" dirty="0"/>
          </a:p>
        </p:txBody>
      </p:sp>
      <p:sp>
        <p:nvSpPr>
          <p:cNvPr id="18" name="Text 13"/>
          <p:cNvSpPr/>
          <p:nvPr/>
        </p:nvSpPr>
        <p:spPr>
          <a:xfrm>
            <a:off x="1874520" y="514807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00000"/>
                </a:solidFill>
              </a:rPr>
              <a:t>Any answer sitting on the impossible side of the audit’s bound is provably wrong. No expert judgment call, no debate — that is how CCSD(T) and the DMRG reference were caught.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40080" y="617220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Discipline to match: predictions pre-registered and cryptographically frozen before every decisive run — failures published with the same prominence as wins.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Proof, not promises — audited against nature and at scale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96112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18A6D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LAB-VERIFIED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96112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CrO ground state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000000"/>
                </a:solidFill>
              </a:rPr>
              <a:t>DFT (B3LYP) predicts the wrong ground state. The audit predicts the one measured in the laboratory — decades of spectroscopy agree with us, not DFT.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6245352" y="1234440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01384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18A6D"/>
          </a:solidFill>
          <a:ln/>
        </p:spPr>
      </p:sp>
      <p:sp>
        <p:nvSpPr>
          <p:cNvPr id="10" name="Text 8"/>
          <p:cNvSpPr/>
          <p:nvPr/>
        </p:nvSpPr>
        <p:spPr>
          <a:xfrm>
            <a:off x="6501384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TEST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01384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VO ground state — predicted blind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01384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000000"/>
                </a:solidFill>
              </a:rPr>
              <a:t>Prediction locked by cryptographic hash before the single frozen run. Result: matches the laboratory ground state. The audit is right when it cannot possibly peek.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640080" y="3630168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C13438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CCSD(T) caught red-handed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6112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000000"/>
                </a:solidFill>
              </a:rPr>
              <a:t>Its answer sat 217 mHa below the exact energy — inside the region our bound proves impossible. The “accuracy gold standard,” convicted by mathematics.</a:t>
            </a:r>
            <a:endParaRPr lang="en-US" sz="1280" dirty="0"/>
          </a:p>
        </p:txBody>
      </p:sp>
      <p:sp>
        <p:nvSpPr>
          <p:cNvPr id="18" name="Shape 16"/>
          <p:cNvSpPr/>
          <p:nvPr/>
        </p:nvSpPr>
        <p:spPr>
          <a:xfrm>
            <a:off x="6245352" y="3630168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01384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C13438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01384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DMRG reference corrected — for $12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01384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000000"/>
                </a:solidFill>
              </a:rPr>
              <a:t>At 38 qubits on CrO, the audit landed below the trusted reference: provably closer to the truth. Compute cost of the audit: ~$12 and under 3 hours on a rented cloud GPU.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640080" y="6172200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Also in the evidence base: NiO (second oxide class), Sn-oxide EUV photoresist chemistry, and exact-to-the-digit execution on NVIDIA GPUs.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Triage, not replacement — audit the load-bearing welds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DFT keeps the screening job it is priced for. The audit sits at the one place errors become expensive: the go / no-go gate before synthesis.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~10⁶ candidates — DFT screen (pennies each)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550822" y="2788920"/>
            <a:ext cx="3482035" cy="731520"/>
          </a:xfrm>
          <a:prstGeom prst="roundRect">
            <a:avLst>
              <a:gd name="adj" fmla="val 10000"/>
            </a:avLst>
          </a:prstGeom>
          <a:solidFill>
            <a:srgbClr val="9DB8E8"/>
          </a:solidFill>
          <a:ln/>
        </p:spPr>
      </p:sp>
      <p:sp>
        <p:nvSpPr>
          <p:cNvPr id="7" name="Text 5"/>
          <p:cNvSpPr/>
          <p:nvPr/>
        </p:nvSpPr>
        <p:spPr>
          <a:xfrm>
            <a:off x="1642262" y="2788920"/>
            <a:ext cx="32991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~10² survivors — refined models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16506" y="3749040"/>
            <a:ext cx="2150669" cy="731520"/>
          </a:xfrm>
          <a:prstGeom prst="roundRect">
            <a:avLst>
              <a:gd name="adj" fmla="val 10000"/>
            </a:avLst>
          </a:prstGeom>
          <a:solidFill>
            <a:srgbClr val="16205B"/>
          </a:solidFill>
          <a:ln/>
        </p:spPr>
      </p:sp>
      <p:sp>
        <p:nvSpPr>
          <p:cNvPr id="9" name="Text 7"/>
          <p:cNvSpPr/>
          <p:nvPr/>
        </p:nvSpPr>
        <p:spPr>
          <a:xfrm>
            <a:off x="2307946" y="3749040"/>
            <a:ext cx="1967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0000"/>
                </a:solidFill>
              </a:rPr>
              <a:t>Dozens: go / no-go synthesis decisions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48920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02C39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512064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828800" y="4892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00000"/>
                </a:solidFill>
              </a:rPr>
              <a:t>MATGEN-Q AUDIT — $10–100 per decisive number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3291840" y="4480560"/>
            <a:ext cx="0" cy="411480"/>
          </a:xfrm>
          <a:prstGeom prst="line">
            <a:avLst/>
          </a:prstGeom>
          <a:noFill/>
          <a:ln w="31750">
            <a:solidFill>
              <a:srgbClr val="018A6D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400800" y="1828800"/>
            <a:ext cx="5120640" cy="1920240"/>
          </a:xfrm>
          <a:prstGeom prst="roundRect">
            <a:avLst>
              <a:gd name="adj" fmla="val 4286"/>
            </a:avLst>
          </a:prstGeom>
          <a:solidFill>
            <a:srgbClr val="F3F6FC"/>
          </a:solidFill>
          <a:ln/>
        </p:spPr>
      </p:sp>
      <p:sp>
        <p:nvSpPr>
          <p:cNvPr id="15" name="Text 12"/>
          <p:cNvSpPr/>
          <p:nvPr/>
        </p:nvSpPr>
        <p:spPr>
          <a:xfrm>
            <a:off x="6675120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</a:rPr>
              <a:t>$100k – $1M+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cost of one synthesis campaign chasing a computationally mis-ranked candidate — the failure mode the audit exists to catch.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393192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16205B"/>
          </a:solidFill>
          <a:ln/>
        </p:spPr>
      </p:sp>
      <p:sp>
        <p:nvSpPr>
          <p:cNvPr id="18" name="Text 15"/>
          <p:cNvSpPr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</a:rPr>
              <a:t>One avoided dead-end per year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pays for the audit layer across an entire screening portfolio. It doesn’t need “millions saved” to be worth deploying — though that is where the mechanism points.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62179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You don’t X-ray every weld in the shipyard — you X-ray the ones the hull depends 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Why now: it runs today, and the frontier only moves outward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64208"/>
            <a:ext cx="694944" cy="694944"/>
          </a:xfrm>
          <a:prstGeom prst="ellipse">
            <a:avLst/>
          </a:prstGeom>
          <a:solidFill>
            <a:srgbClr val="16205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085" y="1844893"/>
            <a:ext cx="333573" cy="3335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4904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0000"/>
                </a:solidFill>
              </a:rPr>
              <a:t>Executed on real hardware — today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1920240" y="1901952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Exact to the digit at 20 qubits and chemically accurate at 28 on rented NVIDIA GPUs; reference-correcting at 38; the 40-qubit flagship in flight. No exotic infrastructure — cloud instances anyone can rent.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98648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16205B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236976"/>
            <a:ext cx="694944" cy="69494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085" y="3417661"/>
            <a:ext cx="333573" cy="33357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20240" y="3063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0000"/>
                </a:solidFill>
              </a:rPr>
              <a:t>Built for the quantum curve</a:t>
            </a:r>
            <a:endParaRPr lang="en-US" sz="1850" dirty="0"/>
          </a:p>
        </p:txBody>
      </p:sp>
      <p:sp>
        <p:nvSpPr>
          <p:cNvPr id="12" name="Text 8"/>
          <p:cNvSpPr/>
          <p:nvPr/>
        </p:nvSpPr>
        <p:spPr>
          <a:xfrm>
            <a:off x="1920240" y="347472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The expensive step — selecting which configurations matter — is exactly what a quantum sampler does natively (CUDA-Q today, trapped-ion QPUs next: our verified circuits are already in the queue). As devices mature, certified truth gets cheaper every year.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" y="4809744"/>
            <a:ext cx="694944" cy="694944"/>
          </a:xfrm>
          <a:prstGeom prst="ellipse">
            <a:avLst/>
          </a:prstGeom>
          <a:solidFill>
            <a:srgbClr val="16205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085" y="4990429"/>
            <a:ext cx="333573" cy="33357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463600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0000"/>
                </a:solidFill>
              </a:rPr>
              <a:t>Credibility as a feature</a:t>
            </a:r>
            <a:endParaRPr lang="en-US" sz="1850" dirty="0"/>
          </a:p>
        </p:txBody>
      </p:sp>
      <p:sp>
        <p:nvSpPr>
          <p:cNvPr id="17" name="Text 12"/>
          <p:cNvSpPr/>
          <p:nvPr/>
        </p:nvSpPr>
        <p:spPr>
          <a:xfrm>
            <a:off x="1920240" y="50474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Clinical-trial-style pre-registration, cryptographically frozen blind tests, published failures, and a one-command reproduction path with 24 automated checks. An audit you can audit.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40080" y="6199632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</a:rPr>
              <a:t>Semiconductors (EUV photoresists) · catalysis · battery materials · magnetics — demonstrated on the chemistry these industries actually struggle with.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0000"/>
                </a:solidFill>
              </a:rPr>
              <a:t>What is proven — and what is roadmap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349240" cy="3749040"/>
          </a:xfrm>
          <a:prstGeom prst="roundRect">
            <a:avLst>
              <a:gd name="adj" fmla="val 2195"/>
            </a:avLst>
          </a:prstGeom>
          <a:solidFill>
            <a:srgbClr val="232E6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3619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5179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</a:rPr>
              <a:t>PROVEN (committed, reproducible)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91440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00000"/>
                </a:solidFill>
              </a:rPr>
              <a:t>Silent failures caught in DFT, CCSD(T), and DMRG on industrial chemistry</a:t>
            </a:r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00000"/>
                </a:solidFill>
              </a:rPr>
              <a:t>Two laboratory-verified ground-state calls — one cryptographically blind</a:t>
            </a:r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00000"/>
                </a:solidFill>
              </a:rPr>
              <a:t>Audit-at-scale: 38-qubit reference corrected for ~$12 of cloud compute</a:t>
            </a:r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00000"/>
                </a:solidFill>
              </a:rPr>
              <a:t>Exact GPU execution (20q) and chemical accuracy beyond it (28q)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17920" y="1280160"/>
            <a:ext cx="5349240" cy="3749040"/>
          </a:xfrm>
          <a:prstGeom prst="roundRect">
            <a:avLst>
              <a:gd name="adj" fmla="val 2195"/>
            </a:avLst>
          </a:prstGeom>
          <a:solidFill>
            <a:srgbClr val="232E6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36192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95160" y="15179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</a:rPr>
              <a:t>ROADMAP (stated as such, never as done)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649224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00000"/>
                </a:solidFill>
              </a:rPr>
              <a:t>40-qubit certified pass — flagship run executing now</a:t>
            </a:r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00000"/>
                </a:solidFill>
              </a:rPr>
              <a:t>Real trapped-ion QPU results — verified circuits already queued</a:t>
            </a:r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00000"/>
                </a:solidFill>
              </a:rPr>
              <a:t>Broader chemistry coverage beyond the demonstrated oxide classes</a:t>
            </a:r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00000"/>
                </a:solidFill>
              </a:rPr>
              <a:t>Device-sampled selection moving the certified frontier past 40 qubits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349240"/>
            <a:ext cx="10927080" cy="1005840"/>
          </a:xfrm>
          <a:prstGeom prst="roundRect">
            <a:avLst>
              <a:gd name="adj" fmla="val 8182"/>
            </a:avLst>
          </a:prstGeom>
          <a:solidFill>
            <a:srgbClr val="02C39A"/>
          </a:solidFill>
          <a:ln/>
        </p:spPr>
      </p:sp>
      <p:sp>
        <p:nvSpPr>
          <p:cNvPr id="12" name="Text 8"/>
          <p:cNvSpPr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The ask: 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pilot the MATGEN-Q audit on the decision-gate numbers of one live screening program — and count the dead-ends it removes.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2026-07-19T04:48:25Z</dcterms:created>
  <dcterms:modified xsi:type="dcterms:W3CDTF">2026-07-19T04:48:25Z</dcterms:modified>
</cp:coreProperties>
</file>