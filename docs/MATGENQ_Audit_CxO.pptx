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82296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463040"/>
            <a:ext cx="155448" cy="155448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2377440"/>
            <a:ext cx="201168" cy="20116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0" y="3108960"/>
            <a:ext cx="109728" cy="109728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0" y="3931920"/>
            <a:ext cx="155448" cy="15544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4846320"/>
            <a:ext cx="201168" cy="201168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0" y="576072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6035040"/>
            <a:ext cx="155448" cy="155448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5577840"/>
            <a:ext cx="201168" cy="20116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4754880"/>
            <a:ext cx="109728" cy="109728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979322"/>
            <a:ext cx="373075" cy="37307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77240" y="17373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MATGEN-Q</a:t>
            </a:r>
            <a:endParaRPr lang="en-US" sz="5400" dirty="0"/>
          </a:p>
        </p:txBody>
      </p:sp>
      <p:sp>
        <p:nvSpPr>
          <p:cNvPr id="15" name="Text 12"/>
          <p:cNvSpPr/>
          <p:nvPr/>
        </p:nvSpPr>
        <p:spPr>
          <a:xfrm>
            <a:off x="822960" y="2697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Layer for Materials R&amp;D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22960" y="34290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chemistry that knows which side of the truth it is on —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proves when the standard methods are silently wrong.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22960" y="4892040"/>
            <a:ext cx="4754880" cy="0"/>
          </a:xfrm>
          <a:prstGeom prst="line">
            <a:avLst/>
          </a:prstGeom>
          <a:noFill/>
          <a:ln w="19050">
            <a:solidFill>
              <a:srgbClr val="232E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5074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EIGENNEXUS  ·  GIC 2026 Advanced Materials Finalist (Mitsubishi Chemical &amp; AIST)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every slide is committed, reproducible evidence — one command, 24 automated checks.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“gold standard” fails silently — we caught all three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R&amp;D advances candidates to synthesis based on computed numbers nobody can double-check. We audited the standard toolchain on real industrial chemistry: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3B2">
                <a:alpha val="3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574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039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TIER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2286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96112" y="29260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50" b="1" dirty="0">
                <a:solidFill>
                  <a:srgbClr val="C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ground state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96112" y="3721608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spin state: functionals disagree by 1.9 eV; B3LYP inverts the answer outright — a screen built on it mis-ranks every CrO-like candidate.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16552" y="178308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3B2">
                <a:alpha val="3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05740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39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TIER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193792" y="2286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CCSD(T)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672584" y="29260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50" b="1" dirty="0">
                <a:solidFill>
                  <a:srgbClr val="C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by 217 mHa — confidently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4672584" y="3721608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non-variationally below the exact energy on bond-breaking — precise-looking, unphysical, and it never warns you.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93024" y="178308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3B2">
                <a:alpha val="3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05740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0264" y="2039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TIER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970264" y="2286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DMRG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8449056" y="29260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50" b="1" dirty="0">
                <a:solidFill>
                  <a:srgbClr val="C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mHa silent truncation error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8449056" y="3721608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realistic 38-qubit transition-metal problem, the heavy-artillery reference itself was off by ~1.9 kcal/mol — detected only by our audit.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5349240"/>
            <a:ext cx="10927080" cy="960120"/>
          </a:xfrm>
          <a:prstGeom prst="roundRect">
            <a:avLst>
              <a:gd name="adj" fmla="val 8571"/>
            </a:avLst>
          </a:prstGeom>
          <a:solidFill>
            <a:srgbClr val="16205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605272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5440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a silent failure: </a:t>
            </a:r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mis-ranked candidate sends a synthesis campaign after a dead end — $100k to $1M+ 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staff, materials, and lost time before the lab finds out.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audit: a measuring tape that can only read long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properties no standard method has — each mathematical or demonstrated, not promised: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27080" cy="1234440"/>
          </a:xfrm>
          <a:prstGeom prst="roundRect">
            <a:avLst>
              <a:gd name="adj" fmla="val 6667"/>
            </a:avLst>
          </a:prstGeom>
          <a:solidFill>
            <a:srgbClr val="232E6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66544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2237720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2938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One-sided by construction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874520" y="2313432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energy can never fall below the truth — a guarantee of mathematics, not testing. It always knows which side of the answer it is 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10927080" cy="1234440"/>
          </a:xfrm>
          <a:prstGeom prst="roundRect">
            <a:avLst>
              <a:gd name="adj" fmla="val 6667"/>
            </a:avLst>
          </a:prstGeom>
          <a:solidFill>
            <a:srgbClr val="232E6E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483864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576" y="3655040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34670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Self-certifying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1874520" y="37307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carries its own error estimate that shrinks as compute is added (demonstrated tracking reality at R² = 0.999). When the bar is under chemical accuracy, the number is the truth for every practical purpose.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617720"/>
            <a:ext cx="10927080" cy="1234440"/>
          </a:xfrm>
          <a:prstGeom prst="roundRect">
            <a:avLst>
              <a:gd name="adj" fmla="val 6667"/>
            </a:avLst>
          </a:prstGeom>
          <a:solidFill>
            <a:srgbClr val="232E6E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901184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76" y="5072360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76402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Convicts other methods — even before full convergence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1874520" y="5148072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answer sitting on the impossible side of the audit’s bound is provably wrong. No expert judgment call, no debate — that is how CCSD(T) and the DMRG reference were caught.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" y="6053328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always knows which side of the truth it is on, always knows roughly how far, becomes the truth if you pay enough compute — and can convict other methods of being wrong even before it gets there.”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promises — audited against nature and at scale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3B2">
                <a:alpha val="3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1472184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18A6D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58468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LAB-VERIFIED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6112" y="1856232"/>
            <a:ext cx="4837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ground state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276856"/>
            <a:ext cx="4837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(B3LYP) predicts the wrong ground state. The audit predicts the one measured in the laboratory — decades of spectroscopy agree with us, not DFT.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245352" y="123444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3B2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01384" y="1472184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18A6D"/>
          </a:solidFill>
          <a:ln/>
        </p:spPr>
      </p:sp>
      <p:sp>
        <p:nvSpPr>
          <p:cNvPr id="10" name="Text 8"/>
          <p:cNvSpPr/>
          <p:nvPr/>
        </p:nvSpPr>
        <p:spPr>
          <a:xfrm>
            <a:off x="6501384" y="1458468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01384" y="1856232"/>
            <a:ext cx="4837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 ground state — predicted blind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01384" y="2276856"/>
            <a:ext cx="4837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locked by cryptographic hash before the single frozen run. Result: matches the laboratory ground state. The audit is right when it cannot possibly peek.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640080" y="3630168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3B2">
                <a:alpha val="3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86791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C13438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854196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4251960"/>
            <a:ext cx="4837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CCSD(T) caught red-handed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" y="4672584"/>
            <a:ext cx="4837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answer sat 217 mHa below the exact energy — inside the region our bound proves impossible. The “accuracy gold standard,” convicted by mathematics.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245352" y="3630168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3B2">
                <a:alpha val="3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01384" y="386791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C13438"/>
          </a:solidFill>
          <a:ln/>
        </p:spPr>
      </p:sp>
      <p:sp>
        <p:nvSpPr>
          <p:cNvPr id="20" name="Text 18"/>
          <p:cNvSpPr/>
          <p:nvPr/>
        </p:nvSpPr>
        <p:spPr>
          <a:xfrm>
            <a:off x="6501384" y="3854196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01384" y="4251960"/>
            <a:ext cx="4837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DMRG reference corrected — for $12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01384" y="4672584"/>
            <a:ext cx="4837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38 qubits on CrO, the audit landed below the trusted reference: provably closer to the truth. Compute cost of the audit: ~$12 and under 3 hours on a rented cloud GPU.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640080" y="6053328"/>
            <a:ext cx="10927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print, stated openly: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guarantee applies to energies; verdicts comparing two states (spin gaps) are trusted only after each state is individually converged to certified accuracy — as the CrO and VO calls above were.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evidence base: NiO (second oxide class), Sn-oxide EUV photoresist chemistry, exact-to-the-digit GPU execution.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not replacement — audit the load-bearing welds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keeps the screening job it is priced for. The audit sits at the one place errors become expensive: the go / no-go gate before synthesis.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~10⁶ candidates — DFT screen (pennies each)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550822" y="2788920"/>
            <a:ext cx="3482035" cy="731520"/>
          </a:xfrm>
          <a:prstGeom prst="roundRect">
            <a:avLst>
              <a:gd name="adj" fmla="val 10000"/>
            </a:avLst>
          </a:prstGeom>
          <a:solidFill>
            <a:srgbClr val="9DB8E8"/>
          </a:solidFill>
          <a:ln/>
        </p:spPr>
      </p:sp>
      <p:sp>
        <p:nvSpPr>
          <p:cNvPr id="7" name="Text 5"/>
          <p:cNvSpPr/>
          <p:nvPr/>
        </p:nvSpPr>
        <p:spPr>
          <a:xfrm>
            <a:off x="1642262" y="2788920"/>
            <a:ext cx="32991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~10² survivors — refined models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16506" y="3749040"/>
            <a:ext cx="2150669" cy="731520"/>
          </a:xfrm>
          <a:prstGeom prst="roundRect">
            <a:avLst>
              <a:gd name="adj" fmla="val 10000"/>
            </a:avLst>
          </a:prstGeom>
          <a:solidFill>
            <a:srgbClr val="16205B"/>
          </a:solidFill>
          <a:ln/>
        </p:spPr>
      </p:sp>
      <p:sp>
        <p:nvSpPr>
          <p:cNvPr id="9" name="Text 7"/>
          <p:cNvSpPr/>
          <p:nvPr/>
        </p:nvSpPr>
        <p:spPr>
          <a:xfrm>
            <a:off x="2307946" y="3749040"/>
            <a:ext cx="19677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Dozens: go / no-go synthesis decisions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51560" y="4892040"/>
            <a:ext cx="4480560" cy="868680"/>
          </a:xfrm>
          <a:prstGeom prst="roundRect">
            <a:avLst>
              <a:gd name="adj" fmla="val 9474"/>
            </a:avLst>
          </a:prstGeom>
          <a:solidFill>
            <a:srgbClr val="02C39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512064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28800" y="4892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MATGEN-Q AUDIT — $10–100 per decisive number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291840" y="4480560"/>
            <a:ext cx="0" cy="411480"/>
          </a:xfrm>
          <a:prstGeom prst="line">
            <a:avLst/>
          </a:prstGeom>
          <a:noFill/>
          <a:ln w="31750">
            <a:solidFill>
              <a:srgbClr val="018A6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400800" y="182880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F3F6FC"/>
          </a:solidFill>
          <a:ln/>
        </p:spPr>
      </p:sp>
      <p:sp>
        <p:nvSpPr>
          <p:cNvPr id="15" name="Text 12"/>
          <p:cNvSpPr/>
          <p:nvPr/>
        </p:nvSpPr>
        <p:spPr>
          <a:xfrm>
            <a:off x="6675120" y="2011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– $1M+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675120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one synthesis campaign chasing a computationally mis-ranked candidate — the failure mode the audit exists to catch.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0" y="393192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16205B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avoided dead-end per year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675120" y="45720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for the audit layer across an entire screening portfolio. It doesn’t need “millions saved” to be worth deploying — though that is where the mechanism points.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5989320"/>
            <a:ext cx="10927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X-ray every weld in the shipyard — you X-ray the ones the hull depends on.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print, stated openly: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claim a validated market size. Coverage today is the demonstrated oxide classes, and the audit certifies the correlated-electron solve — the silent-failure part — not every assumption in the modeling stack. The defensible claim is the one above: one avoided dead-end pays for the layer.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it runs today, and the frontier only moves outward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92708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3B2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64208"/>
            <a:ext cx="694944" cy="694944"/>
          </a:xfrm>
          <a:prstGeom prst="ellipse">
            <a:avLst/>
          </a:prstGeom>
          <a:solidFill>
            <a:srgbClr val="1620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085" y="1844893"/>
            <a:ext cx="333573" cy="3335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49047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on real hardware — today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920240" y="1901952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to the digit at 20 qubits and chemically accurate at 28 on rented NVIDIA GPUs; reference-correcting at 38; the 40-qubit flagship in flight. No exotic infrastructure — cloud instances anyone can rent.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898648"/>
            <a:ext cx="10927080" cy="1371600"/>
          </a:xfrm>
          <a:prstGeom prst="roundRect">
            <a:avLst>
              <a:gd name="adj" fmla="val 6000"/>
            </a:avLst>
          </a:prstGeom>
          <a:solidFill>
            <a:srgbClr val="16205B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3236976"/>
            <a:ext cx="694944" cy="69494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085" y="3417661"/>
            <a:ext cx="333573" cy="3335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306324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quantum curve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1920240" y="347472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step — selecting which configurations matter — is exactly what a quantum sampler does natively (CUDA-Q today, trapped-ion QPUs next: our verified circuits are already in the queue). As devices mature, certified truth gets cheaper every year.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471416"/>
            <a:ext cx="1092708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9AA3B2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4809744"/>
            <a:ext cx="694944" cy="694944"/>
          </a:xfrm>
          <a:prstGeom prst="ellipse">
            <a:avLst/>
          </a:prstGeom>
          <a:solidFill>
            <a:srgbClr val="16205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085" y="4990429"/>
            <a:ext cx="333573" cy="3335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63600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as a feature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1920240" y="5047488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Clinical-trial-style pre-registration, cryptographically frozen blind tests, published failures, and a one-command reproduction path with 24 automated checks. An audit you can audit.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619963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Semiconductors (EUV photoresists) · catalysis · battery materials · magnetics — demonstrated on the chemistry these industries actually struggle with.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proven — and what is roadmap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49240" cy="3749040"/>
          </a:xfrm>
          <a:prstGeom prst="roundRect">
            <a:avLst>
              <a:gd name="adj" fmla="val 2195"/>
            </a:avLst>
          </a:prstGeom>
          <a:solidFill>
            <a:srgbClr val="232E6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3619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1790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(committed, reproducible)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14400" y="20574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 caught in DFT, CCSD(T), and DMRG on industrial chemistry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laboratory-verified ground-state calls — one cryptographically blind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Audit-at-scale: 38-qubit reference corrected for ~$12 of cloud compute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GPU execution (20q) and chemical accuracy beyond it (28q)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17920" y="1280160"/>
            <a:ext cx="5349240" cy="3749040"/>
          </a:xfrm>
          <a:prstGeom prst="roundRect">
            <a:avLst>
              <a:gd name="adj" fmla="val 2195"/>
            </a:avLst>
          </a:prstGeom>
          <a:solidFill>
            <a:srgbClr val="232E6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3619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95160" y="151790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(stated as such, never as done)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492240" y="20574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40-qubit certified pass — flagship run executing now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trapped-ion QPU results — verified circuits already queued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chemistry coverage beyond the demonstrated oxide classes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Device-sampled selection moving the certified frontier past 40 qubits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349240"/>
            <a:ext cx="10927080" cy="1005840"/>
          </a:xfrm>
          <a:prstGeom prst="roundRect">
            <a:avLst>
              <a:gd name="adj" fmla="val 8182"/>
            </a:avLst>
          </a:prstGeom>
          <a:solidFill>
            <a:srgbClr val="02C39A"/>
          </a:solidFill>
          <a:ln/>
        </p:spPr>
      </p:sp>
      <p:sp>
        <p:nvSpPr>
          <p:cNvPr id="12" name="Text 8"/>
          <p:cNvSpPr/>
          <p:nvPr/>
        </p:nvSpPr>
        <p:spPr>
          <a:xfrm>
            <a:off x="914400" y="53492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6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6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MATGEN-Q audit on the decision-gate numbers of one live screening program — and count the dead-ends it removes.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2026-07-19T05:03:12Z</dcterms:created>
  <dcterms:modified xsi:type="dcterms:W3CDTF">2026-07-19T05:03:12Z</dcterms:modified>
</cp:coreProperties>
</file>