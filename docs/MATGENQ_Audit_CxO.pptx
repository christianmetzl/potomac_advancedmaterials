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AUDIT-GRADE COMPUTATIONAL CHEMISTRY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01300" y="2994660"/>
            <a:ext cx="1051560" cy="105156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35540" y="2628900"/>
            <a:ext cx="1783080" cy="178308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9780" y="2263140"/>
            <a:ext cx="2514600" cy="251460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0" y="109728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47120" y="1737360"/>
            <a:ext cx="137160" cy="137160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881360" y="2651760"/>
            <a:ext cx="173736" cy="173736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3383280"/>
            <a:ext cx="100584" cy="100584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424160" y="4206240"/>
            <a:ext cx="137160" cy="137160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338560" y="5120640"/>
            <a:ext cx="173736" cy="173736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789920" y="594360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570464" y="1152144"/>
            <a:ext cx="713232" cy="62179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11301984" y="1792224"/>
            <a:ext cx="384048" cy="89611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2743200"/>
            <a:ext cx="676656" cy="676656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868680"/>
            <a:ext cx="868680" cy="868680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1103224"/>
            <a:ext cx="399593" cy="39959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77240" y="18288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MATGEN-Q</a:t>
            </a:r>
            <a:endParaRPr lang="en-US" sz="5400" dirty="0"/>
          </a:p>
        </p:txBody>
      </p:sp>
      <p:sp>
        <p:nvSpPr>
          <p:cNvPr id="30" name="Text 27"/>
          <p:cNvSpPr/>
          <p:nvPr/>
        </p:nvSpPr>
        <p:spPr>
          <a:xfrm>
            <a:off x="822960" y="27889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200" kern="0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LAYER FOR MATERIALS R&amp;D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822960" y="347472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82296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VARIATIONAL BOUND ......... ACTIVE 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22960" y="48188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[ 40Q FLAGSHIP ......... P1/P2 PASS ]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22960" y="5111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REPRO CHECKS ............ 24 / 24 ]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22960" y="5623560"/>
            <a:ext cx="47548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GIC 2026 Advanced Materials Finalist (Mitsubishi Chemical &amp; AIST)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committed, reproducible evidence — one command, 24 automated checks.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SILENT-FAILURE SCAN // DFT · CCSD(T) · DMRG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Every “gold standard” fails silently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R&amp;D advances candidates to synthesis based on computed numbers nobody can double-check. We audited the standard toolchain on real industrial chemistry — and caught all three tiers: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1732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SCREENING TIER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ground state</a:t>
            </a:r>
            <a:endParaRPr lang="en-US" sz="1750" dirty="0"/>
          </a:p>
        </p:txBody>
      </p:sp>
      <p:sp>
        <p:nvSpPr>
          <p:cNvPr id="24" name="Text 21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81144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193792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 TIER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endParaRPr lang="en-US" sz="2400" dirty="0"/>
          </a:p>
        </p:txBody>
      </p:sp>
      <p:sp>
        <p:nvSpPr>
          <p:cNvPr id="30" name="Text 26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217 mHa — confidently</a:t>
            </a:r>
            <a:endParaRPr lang="en-US" sz="1750" dirty="0"/>
          </a:p>
        </p:txBody>
      </p:sp>
      <p:sp>
        <p:nvSpPr>
          <p:cNvPr id="31" name="Text 27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57616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970264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TIER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</a:t>
            </a:r>
            <a:endParaRPr lang="en-US" sz="2400" dirty="0"/>
          </a:p>
        </p:txBody>
      </p:sp>
      <p:sp>
        <p:nvSpPr>
          <p:cNvPr id="37" name="Text 32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mHa silent truncation error</a:t>
            </a:r>
            <a:endParaRPr lang="en-US" sz="1750" dirty="0"/>
          </a:p>
        </p:txBody>
      </p:sp>
      <p:sp>
        <p:nvSpPr>
          <p:cNvPr id="38" name="Text 33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realistic 38-qubit transition-metal problem, the heavy-artillery reference itself was off by ~1.9 kcal/mol — detected only by our audit.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5714"/>
            </a:avLst>
          </a:prstGeom>
          <a:solidFill>
            <a:srgbClr val="13203A"/>
          </a:solidFill>
          <a:ln w="12700">
            <a:solidFill>
              <a:srgbClr val="FF5F6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MECHANISM // ONE-SIDED · SELF-CERTIFYING · CONVICTING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 measuring tape that can only read long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2244303"/>
            <a:ext cx="302849" cy="30284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by construction</a:t>
            </a:r>
            <a:endParaRPr lang="en-US" sz="1850" dirty="0"/>
          </a:p>
        </p:txBody>
      </p:sp>
      <p:sp>
        <p:nvSpPr>
          <p:cNvPr id="23" name="Text 20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31802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6" name="Shape 23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159" y="3661623"/>
            <a:ext cx="302849" cy="302849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</a:t>
            </a:r>
            <a:endParaRPr lang="en-US" sz="1850" dirty="0"/>
          </a:p>
        </p:txBody>
      </p:sp>
      <p:sp>
        <p:nvSpPr>
          <p:cNvPr id="29" name="Text 25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04672" y="459760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2" name="Shape 28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59" y="5078943"/>
            <a:ext cx="302849" cy="302849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Convicts other methods — even before full convergence</a:t>
            </a:r>
            <a:endParaRPr lang="en-US" sz="1850" dirty="0"/>
          </a:p>
        </p:txBody>
      </p:sp>
      <p:sp>
        <p:nvSpPr>
          <p:cNvPr id="35" name="Text 30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answer sitting on the impossible side of the audit’s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640080" y="605332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i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always knows which side of the truth it is on, always knows roughly how far, becomes the truth if you pay enough compute — and can convict other methods of being wrong even before it gets there.”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 TAXONOMY // FOUR TIERS, LABELED ON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stamp covers — and what it doesn’t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 is a scalpel, not a blanket. Four tiers of claim, each labeled on the product itself: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60020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5800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183794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20" y="1995952"/>
            <a:ext cx="269199" cy="26919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737360" y="1709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energies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1737360" y="20756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variational bound and its error certificate apply directly — mathematics, not benchmarking. Every point of the CrO bond-breaking curve held to ≤2.8 mHa while CCSD(T) drifted by up to ~140.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9738360" y="197510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5" name="Text 22"/>
          <p:cNvSpPr/>
          <p:nvPr/>
        </p:nvSpPr>
        <p:spPr>
          <a:xfrm>
            <a:off x="9738360" y="196138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GUARANTEED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278892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4672" y="2768803"/>
            <a:ext cx="685800" cy="41148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28" name="Shape 25"/>
          <p:cNvSpPr/>
          <p:nvPr/>
        </p:nvSpPr>
        <p:spPr>
          <a:xfrm>
            <a:off x="896112" y="302666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20" y="3184672"/>
            <a:ext cx="269199" cy="269199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737360" y="28986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differences — spin gaps, barriers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1737360" y="326440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of two one-sided bounds is not itself one-sided. A verdict is issued only after each state is individually converged to certified accuracy — exactly how the CrO and blind VO ground-state calls were made.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9738360" y="316382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4DD8FF"/>
          </a:solidFill>
          <a:ln/>
        </p:spPr>
      </p:sp>
      <p:sp>
        <p:nvSpPr>
          <p:cNvPr id="33" name="Text 29"/>
          <p:cNvSpPr/>
          <p:nvPr/>
        </p:nvSpPr>
        <p:spPr>
          <a:xfrm>
            <a:off x="9738360" y="315010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CONDITIONAL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40080" y="397764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04672" y="3957523"/>
            <a:ext cx="685800" cy="41148"/>
          </a:xfrm>
          <a:prstGeom prst="rect">
            <a:avLst/>
          </a:prstGeom>
          <a:solidFill>
            <a:srgbClr val="FFC24D"/>
          </a:solidFill>
          <a:ln/>
        </p:spPr>
      </p:sp>
      <p:sp>
        <p:nvSpPr>
          <p:cNvPr id="36" name="Shape 32"/>
          <p:cNvSpPr/>
          <p:nvPr/>
        </p:nvSpPr>
        <p:spPr>
          <a:xfrm>
            <a:off x="896112" y="421538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C24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20" y="4373392"/>
            <a:ext cx="269199" cy="269199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1737360" y="4087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Extrapolated &amp; derived quantities</a:t>
            </a:r>
            <a:endParaRPr lang="en-US" sz="1650" dirty="0"/>
          </a:p>
        </p:txBody>
      </p:sp>
      <p:sp>
        <p:nvSpPr>
          <p:cNvPr id="39" name="Text 34"/>
          <p:cNvSpPr/>
          <p:nvPr/>
        </p:nvSpPr>
        <p:spPr>
          <a:xfrm>
            <a:off x="1737360" y="44531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certificate’s extrapolation to the exact answer (demonstrated R² = 0.999) is a best estimate, not a bound. The evidence files carry that distinction explicitly — an estimate is never quoted as a guarantee.</a:t>
            </a:r>
            <a:endParaRPr lang="en-US" sz="1150" dirty="0"/>
          </a:p>
        </p:txBody>
      </p:sp>
      <p:sp>
        <p:nvSpPr>
          <p:cNvPr id="40" name="Shape 35"/>
          <p:cNvSpPr/>
          <p:nvPr/>
        </p:nvSpPr>
        <p:spPr>
          <a:xfrm>
            <a:off x="9738360" y="435254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C24D"/>
          </a:solidFill>
          <a:ln/>
        </p:spPr>
      </p:sp>
      <p:sp>
        <p:nvSpPr>
          <p:cNvPr id="41" name="Text 36"/>
          <p:cNvSpPr/>
          <p:nvPr/>
        </p:nvSpPr>
        <p:spPr>
          <a:xfrm>
            <a:off x="9738360" y="43388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640080" y="516636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804672" y="514624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44" name="Shape 39"/>
          <p:cNvSpPr/>
          <p:nvPr/>
        </p:nvSpPr>
        <p:spPr>
          <a:xfrm>
            <a:off x="896112" y="540410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5F6E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120" y="5562112"/>
            <a:ext cx="269199" cy="269199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1737360" y="52760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upstream of the correlated solve</a:t>
            </a:r>
            <a:endParaRPr lang="en-US" sz="1650" dirty="0"/>
          </a:p>
        </p:txBody>
      </p:sp>
      <p:sp>
        <p:nvSpPr>
          <p:cNvPr id="47" name="Text 41"/>
          <p:cNvSpPr/>
          <p:nvPr/>
        </p:nvSpPr>
        <p:spPr>
          <a:xfrm>
            <a:off x="1737360" y="56418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set, active-space choice, environment effects: shared assumptions across every method compared. The audit certifies the step where silent failures live — it does not pretend to certify the whole modeling stack.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9738360" y="554126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49" name="Text 43"/>
          <p:cNvSpPr/>
          <p:nvPr/>
        </p:nvSpPr>
        <p:spPr>
          <a:xfrm>
            <a:off x="9738360" y="552754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CLAIMED</a:t>
            </a:r>
            <a:endParaRPr lang="en-US" sz="1050" dirty="0"/>
          </a:p>
        </p:txBody>
      </p:sp>
      <p:sp>
        <p:nvSpPr>
          <p:cNvPr id="50" name="Text 44"/>
          <p:cNvSpPr/>
          <p:nvPr/>
        </p:nvSpPr>
        <p:spPr>
          <a:xfrm>
            <a:off x="640080" y="6400800"/>
            <a:ext cx="10927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stamp that states exactly what it covers is worth more than one that claims everything. </a:t>
            </a:r>
            <a:pPr indent="0" marL="0">
              <a:buNone/>
            </a:pPr>
            <a:r>
              <a:rPr lang="en-US" sz="11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taxonomy is printed on the product — every evidence file names its tier — not buried in a footnote.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 // LAB-VERIFIED · BLIND · AT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LAB-VERIFIED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ground state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 predicts the wrong ground state. The audit predicts the one measured in the laboratory — decades of spectroscopy agree with us, not DFT.</a:t>
            </a:r>
            <a:endParaRPr lang="en-US" sz="1280" dirty="0"/>
          </a:p>
        </p:txBody>
      </p:sp>
      <p:sp>
        <p:nvSpPr>
          <p:cNvPr id="23" name="Shape 21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9944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5" name="Shape 23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BLIND TEST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 ground state — predicted blind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29" name="Shape 27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1" name="Shape 29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CONVICTION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 caught red-handed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35" name="Shape 33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9944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7" name="Shape 35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8" name="Text 36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SCALE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reference corrected — for $12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on CrO, the audit landed below the trusted reference: provably closer to the truth. Compute cost of the audit: ~$12 and under 3 hours on a rented cloud GPU.</a:t>
            </a:r>
            <a:endParaRPr lang="en-US" sz="1280" dirty="0"/>
          </a:p>
        </p:txBody>
      </p:sp>
      <p:sp>
        <p:nvSpPr>
          <p:cNvPr id="41" name="Text 39"/>
          <p:cNvSpPr/>
          <p:nvPr/>
        </p:nvSpPr>
        <p:spPr>
          <a:xfrm>
            <a:off x="640080" y="6053328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guarantee applies to energies; verdicts comparing two states (spin gaps) are trusted only after each state is individually converged to certified accuracy — as the CrO and VO calls above were.</a:t>
            </a:r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evidence base: NiO (second oxide class), Sn-oxide EUV photoresist chemistry, exact-to-the-digit GPU execution.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ECONOMICS // TRIAGE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Audit the load-bearing welds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not replacement: 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16325A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1F4E8C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~10² survivors — refined models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4DD8FF"/>
          </a:solidFill>
          <a:ln w="12700">
            <a:solidFill>
              <a:srgbClr val="4DD8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Dozens: go / no-go synthesis decisions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0F5C4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0F5C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2857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65392" y="180868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5F6E"/>
                </a:solidFill>
                <a:effectLst>
                  <a:glow rad="63500">
                    <a:srgbClr val="FF5F6E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$100k – $1M+</a:t>
            </a:r>
            <a:endParaRPr lang="en-US" sz="3400" dirty="0"/>
          </a:p>
        </p:txBody>
      </p:sp>
      <p:sp>
        <p:nvSpPr>
          <p:cNvPr id="31" name="Text 28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3000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dead-end per year</a:t>
            </a:r>
            <a:endParaRPr lang="en-US" sz="1900" dirty="0"/>
          </a:p>
        </p:txBody>
      </p:sp>
      <p:sp>
        <p:nvSpPr>
          <p:cNvPr id="34" name="Text 31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0080" y="5989320"/>
            <a:ext cx="10927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X-ray every weld in the shipyard — you X-ray the ones the hull depends on.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a validated market size. Coverage today is the demonstrated oxide classes, and the audit certifies the correlated-electron solve — the silent-failure part — not every assumption in the modeling stack.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TIMING // HARDWARE FRONTIER MOVES ONE WAY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Why now: the frontier only moves outward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3057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035" y="1851843"/>
            <a:ext cx="319674" cy="31967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real hardware — today</a:t>
            </a:r>
            <a:endParaRPr lang="en-US" sz="1850" dirty="0"/>
          </a:p>
        </p:txBody>
      </p:sp>
      <p:sp>
        <p:nvSpPr>
          <p:cNvPr id="22" name="Text 19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digit at 20 qubits, chemically accurate at 28 — and now certified at the 40-qubit flagship: pre-registered chemical-accuracy and determinant-budget tests both PASS. Reference-correcting at 38. All on cloud instances anyone can rent.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35" y="3424611"/>
            <a:ext cx="319674" cy="31967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D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quantum curve</a:t>
            </a:r>
            <a:endParaRPr lang="en-US" sz="1850" dirty="0"/>
          </a:p>
        </p:txBody>
      </p:sp>
      <p:sp>
        <p:nvSpPr>
          <p:cNvPr id="27" name="Text 23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04672" y="4451299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0" name="Shape 26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035" y="4997379"/>
            <a:ext cx="319674" cy="31967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as a feature</a:t>
            </a:r>
            <a:endParaRPr lang="en-US" sz="1850" dirty="0"/>
          </a:p>
        </p:txBody>
      </p:sp>
      <p:sp>
        <p:nvSpPr>
          <p:cNvPr id="33" name="Text 28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REGISTER // PROVEN vs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proven — and what is roadmap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41732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PROVEN // COMMITTED, REPRODUCIBLE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caught in DFT, CCSD(T), and DMRG on industrial chemistry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laboratory-verified ground-state calls — one cryptographically blind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Audit-at-scale: 38-qubit reference corrected for ~$12 of cloud compute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accuracy certified at the 40-qubit flagship — pre-registered P1 + P2 PASS (plus exact 20q, chem-acc 28q)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99516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 // STATED AS SUCH, NEVER AS DONE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38-qubit CrO audit completing now — final margin below the DMRG reference still growing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trapped-ion QPU results — verified circuits already queued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chemistry coverage beyond the demonstrated oxide classes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0F5C4"/>
          </a:solidFill>
          <a:ln/>
        </p:spPr>
      </p:sp>
      <p:sp>
        <p:nvSpPr>
          <p:cNvPr id="26" name="Text 22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2026-07-19T09:49:52Z</dcterms:created>
  <dcterms:modified xsi:type="dcterms:W3CDTF">2026-07-19T09:49:52Z</dcterms:modified>
</cp:coreProperties>
</file>