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AUDIT-GRADE COMPUTATIONAL CHEMISTRY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401300" y="2994660"/>
            <a:ext cx="1051560" cy="105156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35540" y="2628900"/>
            <a:ext cx="1783080" cy="178308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69780" y="2263140"/>
            <a:ext cx="2514600" cy="251460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15600" y="1097280"/>
            <a:ext cx="100584" cy="100584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247120" y="1737360"/>
            <a:ext cx="137160" cy="137160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881360" y="2651760"/>
            <a:ext cx="173736" cy="173736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3383280"/>
            <a:ext cx="100584" cy="100584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424160" y="4206240"/>
            <a:ext cx="137160" cy="137160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338560" y="5120640"/>
            <a:ext cx="173736" cy="173736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789920" y="5943600"/>
            <a:ext cx="100584" cy="100584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570464" y="1152144"/>
            <a:ext cx="713232" cy="621792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11301984" y="1792224"/>
            <a:ext cx="384048" cy="896112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2743200"/>
            <a:ext cx="676656" cy="676656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868680"/>
            <a:ext cx="868680" cy="868680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504" y="1103224"/>
            <a:ext cx="399593" cy="399593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777240" y="182880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MATGEN-Q</a:t>
            </a:r>
            <a:endParaRPr lang="en-US" sz="5400" dirty="0"/>
          </a:p>
        </p:txBody>
      </p:sp>
      <p:sp>
        <p:nvSpPr>
          <p:cNvPr id="30" name="Text 27"/>
          <p:cNvSpPr/>
          <p:nvPr/>
        </p:nvSpPr>
        <p:spPr>
          <a:xfrm>
            <a:off x="822960" y="27889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200" kern="0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LAYER FOR MATERIALS R&amp;D</a:t>
            </a:r>
            <a:endParaRPr lang="en-US" sz="2500" dirty="0"/>
          </a:p>
        </p:txBody>
      </p:sp>
      <p:sp>
        <p:nvSpPr>
          <p:cNvPr id="31" name="Text 28"/>
          <p:cNvSpPr/>
          <p:nvPr/>
        </p:nvSpPr>
        <p:spPr>
          <a:xfrm>
            <a:off x="822960" y="347472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chemistry that knows which side of the truth it is on —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proves when the standard methods are silently wrong.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822960" y="4526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VARIATIONAL BOUND ......... ACTIVE 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22960" y="48188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[ 40Q FLAGSHIP ......... P1/P2 PASS ]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22960" y="51114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F5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REPRO CHECKS ............ 24 / 24 ]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22960" y="5623560"/>
            <a:ext cx="475488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22960" y="57607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GIC 2026 Advanced Materials Finalist (Mitsubishi Chemical &amp; AIST)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every slide is committed, reproducible evidence — one command, 24 automated checks.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SILENT-FAILURE SCAN // DFT · CCSD(T) · DMRG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Every “gold standard” fails silently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97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R&amp;D advances candidates to synthesis based on computed numbers nobody can double-check. We audited the standard toolchain on real industrial chemistry — and caught all three tiers: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057400"/>
            <a:ext cx="384048" cy="38404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17320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SCREENING TIER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417320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896112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ground state</a:t>
            </a:r>
            <a:endParaRPr lang="en-US" sz="1750" dirty="0"/>
          </a:p>
        </p:txBody>
      </p:sp>
      <p:sp>
        <p:nvSpPr>
          <p:cNvPr id="24" name="Text 21"/>
          <p:cNvSpPr/>
          <p:nvPr/>
        </p:nvSpPr>
        <p:spPr>
          <a:xfrm>
            <a:off x="896112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spin state: functionals disagree by 1.9 eV; B3LYP inverts the answer outright — a screen built on it mis-ranks every CrO-like candidate.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416552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81144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2057400"/>
            <a:ext cx="384048" cy="384048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193792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 TIER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5193792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endParaRPr lang="en-US" sz="2400" dirty="0"/>
          </a:p>
        </p:txBody>
      </p:sp>
      <p:sp>
        <p:nvSpPr>
          <p:cNvPr id="30" name="Text 26"/>
          <p:cNvSpPr/>
          <p:nvPr/>
        </p:nvSpPr>
        <p:spPr>
          <a:xfrm>
            <a:off x="4672584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by 217 mHa — confidently</a:t>
            </a:r>
            <a:endParaRPr lang="en-US" sz="1750" dirty="0"/>
          </a:p>
        </p:txBody>
      </p:sp>
      <p:sp>
        <p:nvSpPr>
          <p:cNvPr id="31" name="Text 27"/>
          <p:cNvSpPr/>
          <p:nvPr/>
        </p:nvSpPr>
        <p:spPr>
          <a:xfrm>
            <a:off x="4672584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non-variationally below the exact energy on bond-breaking — precise-looking, unphysical, and it never warns you.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8193024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357616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057400"/>
            <a:ext cx="384048" cy="384048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8970264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 TIER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8970264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</a:t>
            </a:r>
            <a:endParaRPr lang="en-US" sz="2400" dirty="0"/>
          </a:p>
        </p:txBody>
      </p:sp>
      <p:sp>
        <p:nvSpPr>
          <p:cNvPr id="37" name="Text 32"/>
          <p:cNvSpPr/>
          <p:nvPr/>
        </p:nvSpPr>
        <p:spPr>
          <a:xfrm>
            <a:off x="8449056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~3.8 mHa silent truncation error</a:t>
            </a:r>
            <a:endParaRPr lang="en-US" sz="1750" dirty="0"/>
          </a:p>
        </p:txBody>
      </p:sp>
      <p:sp>
        <p:nvSpPr>
          <p:cNvPr id="38" name="Text 33"/>
          <p:cNvSpPr/>
          <p:nvPr/>
        </p:nvSpPr>
        <p:spPr>
          <a:xfrm>
            <a:off x="8449056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realistic 38-qubit transition-metal problem the reference was off by ~2.4 kcal/mol — and raising its bond dimension 2× and 3× only converged it toward our audit's answer, from above.</a:t>
            </a:r>
            <a:endParaRPr lang="en-US" sz="1250" dirty="0"/>
          </a:p>
        </p:txBody>
      </p:sp>
      <p:sp>
        <p:nvSpPr>
          <p:cNvPr id="39" name="Shape 34"/>
          <p:cNvSpPr/>
          <p:nvPr/>
        </p:nvSpPr>
        <p:spPr>
          <a:xfrm>
            <a:off x="640080" y="5349240"/>
            <a:ext cx="10927080" cy="960120"/>
          </a:xfrm>
          <a:prstGeom prst="roundRect">
            <a:avLst>
              <a:gd name="adj" fmla="val 5714"/>
            </a:avLst>
          </a:prstGeom>
          <a:solidFill>
            <a:srgbClr val="13203A"/>
          </a:solidFill>
          <a:ln w="12700">
            <a:solidFill>
              <a:srgbClr val="FF5F6E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605272"/>
            <a:ext cx="457200" cy="457200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a silent failure: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mis-ranked candidate sends a synthesis campaign after a dead end — $100k to $1M+ 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staff, materials, and lost time before the lab finds out.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MECHANISM // ONE-SIDED · SELF-CERTIFYING · CONVICTING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A measuring tape that can only read long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97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properties no standard method has — each mathematical or demonstrated, not promised: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78308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76296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" y="206654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159" y="2244303"/>
            <a:ext cx="302849" cy="302849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874520" y="192938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by construction</a:t>
            </a:r>
            <a:endParaRPr lang="en-US" sz="1850" dirty="0"/>
          </a:p>
        </p:txBody>
      </p:sp>
      <p:sp>
        <p:nvSpPr>
          <p:cNvPr id="23" name="Text 20"/>
          <p:cNvSpPr/>
          <p:nvPr/>
        </p:nvSpPr>
        <p:spPr>
          <a:xfrm>
            <a:off x="1874520" y="231343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energy can never fall below the truth — a guarantee of mathematics, not testing. It always knows which side of the answer it is on.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640080" y="320040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04672" y="318028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6" name="Shape 23"/>
          <p:cNvSpPr/>
          <p:nvPr/>
        </p:nvSpPr>
        <p:spPr>
          <a:xfrm>
            <a:off x="914400" y="348386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159" y="3661623"/>
            <a:ext cx="302849" cy="302849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874520" y="334670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</a:t>
            </a:r>
            <a:endParaRPr lang="en-US" sz="1850" dirty="0"/>
          </a:p>
        </p:txBody>
      </p:sp>
      <p:sp>
        <p:nvSpPr>
          <p:cNvPr id="29" name="Text 25"/>
          <p:cNvSpPr/>
          <p:nvPr/>
        </p:nvSpPr>
        <p:spPr>
          <a:xfrm>
            <a:off x="1874520" y="37307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carries its own error estimate that shrinks as compute is added (demonstrated tracking reality at R² = 0.999). When the bar is under chemical accuracy, the number is the truth for every practical purpose.</a:t>
            </a:r>
            <a:endParaRPr lang="en-US" sz="1350" dirty="0"/>
          </a:p>
        </p:txBody>
      </p:sp>
      <p:sp>
        <p:nvSpPr>
          <p:cNvPr id="30" name="Shape 26"/>
          <p:cNvSpPr/>
          <p:nvPr/>
        </p:nvSpPr>
        <p:spPr>
          <a:xfrm>
            <a:off x="640080" y="461772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04672" y="459760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32" name="Shape 28"/>
          <p:cNvSpPr/>
          <p:nvPr/>
        </p:nvSpPr>
        <p:spPr>
          <a:xfrm>
            <a:off x="914400" y="490118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159" y="5078943"/>
            <a:ext cx="302849" cy="302849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874520" y="476402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Convicts other methods — even before full convergence</a:t>
            </a:r>
            <a:endParaRPr lang="en-US" sz="1850" dirty="0"/>
          </a:p>
        </p:txBody>
      </p:sp>
      <p:sp>
        <p:nvSpPr>
          <p:cNvPr id="35" name="Text 30"/>
          <p:cNvSpPr/>
          <p:nvPr/>
        </p:nvSpPr>
        <p:spPr>
          <a:xfrm>
            <a:off x="1874520" y="514807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answer sitting on the impossible side of the audit’s bound is provably wrong. No expert judgment call, no debate — that is how CCSD(T) and the DMRG reference were caught.</a:t>
            </a:r>
            <a:endParaRPr lang="en-US" sz="1350" dirty="0"/>
          </a:p>
        </p:txBody>
      </p:sp>
      <p:sp>
        <p:nvSpPr>
          <p:cNvPr id="36" name="Text 31"/>
          <p:cNvSpPr/>
          <p:nvPr/>
        </p:nvSpPr>
        <p:spPr>
          <a:xfrm>
            <a:off x="640080" y="605332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i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always knows which side of the truth it is on, always knows roughly how far, becomes the truth if you pay enough compute — and can convict other methods of being wrong even before it gets there.”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 TAXONOMY // FOUR TIERS, LABELED ON THE PRODUCT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stamp covers — and what it doesn’t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789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guarantee is a scalpel, not a blanket. Four tiers of claim, each labeled on the product itself: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60020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58008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0" name="Shape 18"/>
          <p:cNvSpPr/>
          <p:nvPr/>
        </p:nvSpPr>
        <p:spPr>
          <a:xfrm>
            <a:off x="896112" y="183794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20" y="1995952"/>
            <a:ext cx="269199" cy="269199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737360" y="17099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energies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1737360" y="207568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variational bound and its error certificate apply directly — mathematics, not benchmarking. Every point of the CrO bond-breaking curve held to ≤2.8 mHa while CCSD(T) drifted by up to ~140.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9738360" y="197510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5" name="Text 22"/>
          <p:cNvSpPr/>
          <p:nvPr/>
        </p:nvSpPr>
        <p:spPr>
          <a:xfrm>
            <a:off x="9738360" y="196138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GUARANTEED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0080" y="278892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4672" y="2768803"/>
            <a:ext cx="685800" cy="41148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28" name="Shape 25"/>
          <p:cNvSpPr/>
          <p:nvPr/>
        </p:nvSpPr>
        <p:spPr>
          <a:xfrm>
            <a:off x="896112" y="302666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4DD8FF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20" y="3184672"/>
            <a:ext cx="269199" cy="269199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1737360" y="289864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differences — spin gaps, barriers</a:t>
            </a:r>
            <a:endParaRPr lang="en-US" sz="1650" dirty="0"/>
          </a:p>
        </p:txBody>
      </p:sp>
      <p:sp>
        <p:nvSpPr>
          <p:cNvPr id="31" name="Text 27"/>
          <p:cNvSpPr/>
          <p:nvPr/>
        </p:nvSpPr>
        <p:spPr>
          <a:xfrm>
            <a:off x="1737360" y="326440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of two one-sided bounds is not itself one-sided. A verdict is issued only after each state is individually converged to certified accuracy — exactly how the CrO and blind VO ground-state calls were made.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9738360" y="316382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4DD8FF"/>
          </a:solidFill>
          <a:ln/>
        </p:spPr>
      </p:sp>
      <p:sp>
        <p:nvSpPr>
          <p:cNvPr id="33" name="Text 29"/>
          <p:cNvSpPr/>
          <p:nvPr/>
        </p:nvSpPr>
        <p:spPr>
          <a:xfrm>
            <a:off x="9738360" y="315010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CONDITIONAL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40080" y="397764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804672" y="3957523"/>
            <a:ext cx="685800" cy="41148"/>
          </a:xfrm>
          <a:prstGeom prst="rect">
            <a:avLst/>
          </a:prstGeom>
          <a:solidFill>
            <a:srgbClr val="FFC24D"/>
          </a:solidFill>
          <a:ln/>
        </p:spPr>
      </p:sp>
      <p:sp>
        <p:nvSpPr>
          <p:cNvPr id="36" name="Shape 32"/>
          <p:cNvSpPr/>
          <p:nvPr/>
        </p:nvSpPr>
        <p:spPr>
          <a:xfrm>
            <a:off x="896112" y="421538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FFC24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120" y="4373392"/>
            <a:ext cx="269199" cy="269199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1737360" y="40873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Extrapolated &amp; derived quantities</a:t>
            </a:r>
            <a:endParaRPr lang="en-US" sz="1650" dirty="0"/>
          </a:p>
        </p:txBody>
      </p:sp>
      <p:sp>
        <p:nvSpPr>
          <p:cNvPr id="39" name="Text 34"/>
          <p:cNvSpPr/>
          <p:nvPr/>
        </p:nvSpPr>
        <p:spPr>
          <a:xfrm>
            <a:off x="1737360" y="44531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certificate’s extrapolation to the exact answer (demonstrated R² = 0.999) is a best estimate, not a bound. The evidence files carry that distinction explicitly — an estimate is never quoted as a guarantee.</a:t>
            </a:r>
            <a:endParaRPr lang="en-US" sz="1150" dirty="0"/>
          </a:p>
        </p:txBody>
      </p:sp>
      <p:sp>
        <p:nvSpPr>
          <p:cNvPr id="40" name="Shape 35"/>
          <p:cNvSpPr/>
          <p:nvPr/>
        </p:nvSpPr>
        <p:spPr>
          <a:xfrm>
            <a:off x="9738360" y="435254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FC24D"/>
          </a:solidFill>
          <a:ln/>
        </p:spPr>
      </p:sp>
      <p:sp>
        <p:nvSpPr>
          <p:cNvPr id="41" name="Text 36"/>
          <p:cNvSpPr/>
          <p:nvPr/>
        </p:nvSpPr>
        <p:spPr>
          <a:xfrm>
            <a:off x="9738360" y="43388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ESTIMATE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640080" y="516636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804672" y="514624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44" name="Shape 39"/>
          <p:cNvSpPr/>
          <p:nvPr/>
        </p:nvSpPr>
        <p:spPr>
          <a:xfrm>
            <a:off x="896112" y="540410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FF5F6E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120" y="5562112"/>
            <a:ext cx="269199" cy="269199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1737360" y="527608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upstream of the correlated solve</a:t>
            </a:r>
            <a:endParaRPr lang="en-US" sz="1650" dirty="0"/>
          </a:p>
        </p:txBody>
      </p:sp>
      <p:sp>
        <p:nvSpPr>
          <p:cNvPr id="47" name="Text 41"/>
          <p:cNvSpPr/>
          <p:nvPr/>
        </p:nvSpPr>
        <p:spPr>
          <a:xfrm>
            <a:off x="1737360" y="56418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set, active-space choice, environment effects: shared assumptions across every method compared. The audit certifies the step where silent failures live — it does not pretend to certify the whole modeling stack.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9738360" y="554126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49" name="Text 43"/>
          <p:cNvSpPr/>
          <p:nvPr/>
        </p:nvSpPr>
        <p:spPr>
          <a:xfrm>
            <a:off x="9738360" y="552754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CLAIMED</a:t>
            </a:r>
            <a:endParaRPr lang="en-US" sz="1050" dirty="0"/>
          </a:p>
        </p:txBody>
      </p:sp>
      <p:sp>
        <p:nvSpPr>
          <p:cNvPr id="50" name="Text 44"/>
          <p:cNvSpPr/>
          <p:nvPr/>
        </p:nvSpPr>
        <p:spPr>
          <a:xfrm>
            <a:off x="640080" y="6400800"/>
            <a:ext cx="10927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stamp that states exactly what it covers is worth more than one that claims everything. </a:t>
            </a:r>
            <a:pPr indent="0" marL="0">
              <a:buNone/>
            </a:pPr>
            <a:r>
              <a:rPr lang="en-US" sz="11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taxonomy is printed on the product — every evidence file names its tier — not buried in a footnote.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 // LAB-VERIFIED · BLIND · AT SCALE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23444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121432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112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LAB-VERIFIED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96112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ground state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96112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 predicts the wrong ground state. The audit predicts the one measured in the laboratory — decades of spectroscopy agree with us, not DFT.</a:t>
            </a:r>
            <a:endParaRPr lang="en-US" sz="1280" dirty="0"/>
          </a:p>
        </p:txBody>
      </p:sp>
      <p:sp>
        <p:nvSpPr>
          <p:cNvPr id="23" name="Shape 21"/>
          <p:cNvSpPr/>
          <p:nvPr/>
        </p:nvSpPr>
        <p:spPr>
          <a:xfrm>
            <a:off x="6245352" y="123444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9944" y="121432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5" name="Shape 23"/>
          <p:cNvSpPr/>
          <p:nvPr/>
        </p:nvSpPr>
        <p:spPr>
          <a:xfrm>
            <a:off x="6501384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6" name="Text 24"/>
          <p:cNvSpPr/>
          <p:nvPr/>
        </p:nvSpPr>
        <p:spPr>
          <a:xfrm>
            <a:off x="6501384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BLIND TEST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01384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 ground state — predicted blind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501384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locked by cryptographic hash before the single frozen run. Result: matches the laboratory ground state. The audit is right when it cannot possibly peek.</a:t>
            </a:r>
            <a:endParaRPr lang="en-US" sz="1280" dirty="0"/>
          </a:p>
        </p:txBody>
      </p:sp>
      <p:sp>
        <p:nvSpPr>
          <p:cNvPr id="29" name="Shape 27"/>
          <p:cNvSpPr/>
          <p:nvPr/>
        </p:nvSpPr>
        <p:spPr>
          <a:xfrm>
            <a:off x="640080" y="3630168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3610051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1" name="Shape 29"/>
          <p:cNvSpPr/>
          <p:nvPr/>
        </p:nvSpPr>
        <p:spPr>
          <a:xfrm>
            <a:off x="896112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32" name="Text 30"/>
          <p:cNvSpPr/>
          <p:nvPr/>
        </p:nvSpPr>
        <p:spPr>
          <a:xfrm>
            <a:off x="896112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CONVICTION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96112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 caught red-handed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96112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answer sat 217 mHa below the exact energy — inside the region our bound proves impossible. The “accuracy gold standard,” convicted by mathematics.</a:t>
            </a:r>
            <a:endParaRPr lang="en-US" sz="1280" dirty="0"/>
          </a:p>
        </p:txBody>
      </p:sp>
      <p:sp>
        <p:nvSpPr>
          <p:cNvPr id="35" name="Shape 33"/>
          <p:cNvSpPr/>
          <p:nvPr/>
        </p:nvSpPr>
        <p:spPr>
          <a:xfrm>
            <a:off x="6245352" y="3630168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9944" y="3610051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7" name="Shape 35"/>
          <p:cNvSpPr/>
          <p:nvPr/>
        </p:nvSpPr>
        <p:spPr>
          <a:xfrm>
            <a:off x="6501384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38" name="Text 36"/>
          <p:cNvSpPr/>
          <p:nvPr/>
        </p:nvSpPr>
        <p:spPr>
          <a:xfrm>
            <a:off x="6501384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 SCALE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01384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reference corrected — thrice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501384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on CrO the audit converged below the trusted reference — and below it again at 2× and 3× the reference bond dimension, the χ-ladder descending toward our answer from above. Provably closer to the truth, on rented cloud hardware.</a:t>
            </a:r>
            <a:endParaRPr lang="en-US" sz="1280" dirty="0"/>
          </a:p>
        </p:txBody>
      </p:sp>
      <p:sp>
        <p:nvSpPr>
          <p:cNvPr id="41" name="Text 39"/>
          <p:cNvSpPr/>
          <p:nvPr/>
        </p:nvSpPr>
        <p:spPr>
          <a:xfrm>
            <a:off x="640080" y="6053328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print, stated openly: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mathematical guarantee applies to energies; verdicts comparing two states (spin gaps) are trusted only after each state is individually converged to certified accuracy — as the CrO and VO calls above were.</a:t>
            </a:r>
            <a:pPr indent="0" marL="0">
              <a:lnSpc>
                <a:spcPct val="112000"/>
              </a:lnSpc>
              <a:buNone/>
            </a:pP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evidence base: NiO (second oxide class), Sn-oxide EUV photoresist chemistry, exact-to-the-digit GPU execution.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ECONOMICS // TRIAGE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Audit the load-bearing welds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not replacement: DFT keeps the screening job it is priced for. The audit sits at the one place errors become expensive: the go / no-go gate before synthesis.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" y="18288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16325A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18288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~10⁶ candidates — DFT screen (pennies each)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550822" y="2788920"/>
            <a:ext cx="3482035" cy="731520"/>
          </a:xfrm>
          <a:prstGeom prst="roundRect">
            <a:avLst>
              <a:gd name="adj" fmla="val 10000"/>
            </a:avLst>
          </a:prstGeom>
          <a:solidFill>
            <a:srgbClr val="1F4E8C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42262" y="2788920"/>
            <a:ext cx="32991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~10² survivors — refined models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216506" y="3749040"/>
            <a:ext cx="2150669" cy="731520"/>
          </a:xfrm>
          <a:prstGeom prst="roundRect">
            <a:avLst>
              <a:gd name="adj" fmla="val 10000"/>
            </a:avLst>
          </a:prstGeom>
          <a:solidFill>
            <a:srgbClr val="4DD8FF"/>
          </a:solidFill>
          <a:ln w="12700">
            <a:solidFill>
              <a:srgbClr val="4DD8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07946" y="3749040"/>
            <a:ext cx="1967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Dozens: go / no-go synthesis decisions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051560" y="4892040"/>
            <a:ext cx="4480560" cy="868680"/>
          </a:xfrm>
          <a:prstGeom prst="roundRect">
            <a:avLst>
              <a:gd name="adj" fmla="val 9474"/>
            </a:avLst>
          </a:prstGeom>
          <a:solidFill>
            <a:srgbClr val="00F5C4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51206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828800" y="48920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AUDIT — $10–100 per decisive number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3291840" y="4480560"/>
            <a:ext cx="0" cy="411480"/>
          </a:xfrm>
          <a:prstGeom prst="line">
            <a:avLst/>
          </a:prstGeom>
          <a:noFill/>
          <a:ln w="31750">
            <a:solidFill>
              <a:srgbClr val="00F5C4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6400800" y="1828800"/>
            <a:ext cx="5120640" cy="1920240"/>
          </a:xfrm>
          <a:prstGeom prst="roundRect">
            <a:avLst>
              <a:gd name="adj" fmla="val 2857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65392" y="180868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0" name="Text 27"/>
          <p:cNvSpPr/>
          <p:nvPr/>
        </p:nvSpPr>
        <p:spPr>
          <a:xfrm>
            <a:off x="6675120" y="20116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5F6E"/>
                </a:solidFill>
                <a:effectLst>
                  <a:glow rad="63500">
                    <a:srgbClr val="FF5F6E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$100k – $1M+</a:t>
            </a:r>
            <a:endParaRPr lang="en-US" sz="3400" dirty="0"/>
          </a:p>
        </p:txBody>
      </p:sp>
      <p:sp>
        <p:nvSpPr>
          <p:cNvPr id="31" name="Text 28"/>
          <p:cNvSpPr/>
          <p:nvPr/>
        </p:nvSpPr>
        <p:spPr>
          <a:xfrm>
            <a:off x="667512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one synthesis campaign chasing a computationally mis-ranked candidate — the failure mode the audit exists to catch.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400800" y="3931920"/>
            <a:ext cx="5120640" cy="1828800"/>
          </a:xfrm>
          <a:prstGeom prst="roundRect">
            <a:avLst>
              <a:gd name="adj" fmla="val 3000"/>
            </a:avLst>
          </a:prstGeom>
          <a:solidFill>
            <a:srgbClr val="13203A"/>
          </a:solidFill>
          <a:ln w="15875">
            <a:solidFill>
              <a:srgbClr val="00F5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avoided dead-end per year</a:t>
            </a:r>
            <a:endParaRPr lang="en-US" sz="1900" dirty="0"/>
          </a:p>
        </p:txBody>
      </p:sp>
      <p:sp>
        <p:nvSpPr>
          <p:cNvPr id="34" name="Text 31"/>
          <p:cNvSpPr/>
          <p:nvPr/>
        </p:nvSpPr>
        <p:spPr>
          <a:xfrm>
            <a:off x="6675120" y="4572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for the audit layer across an entire screening portfolio. It doesn’t need “millions saved” to be worth deploying — though that is where the mechanism points.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40080" y="5989320"/>
            <a:ext cx="10927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X-ray every weld in the shipyard — you X-ray the ones the hull depends on.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print, stated openly: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a validated market size. Coverage today is the demonstrated oxide classes, and the audit certifies the correlated-electron solve — the silent-failure part — not every assumption in the modeling stack.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TIMING // HARDWARE FRONTIER MOVES ONE WAY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Why now: the frontier only moves outward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325880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130576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1664208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035" y="1851843"/>
            <a:ext cx="319674" cy="31967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920240" y="149047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real hardware — today</a:t>
            </a:r>
            <a:endParaRPr lang="en-US" sz="1850" dirty="0"/>
          </a:p>
        </p:txBody>
      </p:sp>
      <p:sp>
        <p:nvSpPr>
          <p:cNvPr id="22" name="Text 19"/>
          <p:cNvSpPr/>
          <p:nvPr/>
        </p:nvSpPr>
        <p:spPr>
          <a:xfrm>
            <a:off x="1920240" y="1901952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 the digit at 20 qubits, chemically accurate at 28 — and now certified at the 40-qubit flagship: pre-registered chemical-accuracy and determinant-budget tests both PASS. Reference-correcting at 38. All on cloud instances anyone can rent.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40080" y="2898648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13203A"/>
          </a:solidFill>
          <a:ln w="15875">
            <a:solidFill>
              <a:srgbClr val="4DD8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14400" y="3236976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4DD8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35" y="3424611"/>
            <a:ext cx="319674" cy="31967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920240" y="30632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D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quantum curve</a:t>
            </a:r>
            <a:endParaRPr lang="en-US" sz="1850" dirty="0"/>
          </a:p>
        </p:txBody>
      </p:sp>
      <p:sp>
        <p:nvSpPr>
          <p:cNvPr id="27" name="Text 23"/>
          <p:cNvSpPr/>
          <p:nvPr/>
        </p:nvSpPr>
        <p:spPr>
          <a:xfrm>
            <a:off x="1920240" y="347472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step — selecting which configurations matter — is exactly what a quantum sampler does natively (CUDA-Q today, trapped-ion QPUs next: our verified circuits are already in the queue). As devices mature, certified truth gets cheaper every year.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4471416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04672" y="4451299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30" name="Shape 26"/>
          <p:cNvSpPr/>
          <p:nvPr/>
        </p:nvSpPr>
        <p:spPr>
          <a:xfrm>
            <a:off x="914400" y="4809744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035" y="4997379"/>
            <a:ext cx="319674" cy="31967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920240" y="463600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as a feature</a:t>
            </a:r>
            <a:endParaRPr lang="en-US" sz="1850" dirty="0"/>
          </a:p>
        </p:txBody>
      </p:sp>
      <p:sp>
        <p:nvSpPr>
          <p:cNvPr id="33" name="Text 28"/>
          <p:cNvSpPr/>
          <p:nvPr/>
        </p:nvSpPr>
        <p:spPr>
          <a:xfrm>
            <a:off x="1920240" y="50474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Clinical-trial-style pre-registration, cryptographically frozen blind tests, published failures, and a one-command reproduction path with 24 automated checks. An audit you can audit.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640080" y="6199632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Semiconductors (EUV photoresists) · catalysis · battery materials · magnetics — demonstrated on the chemistry these industries actually struggle with.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REGISTER // PROVEN vs 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What is proven — and what is roadmap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280160"/>
            <a:ext cx="5349240" cy="3749040"/>
          </a:xfrm>
          <a:prstGeom prst="roundRect">
            <a:avLst>
              <a:gd name="adj" fmla="val 1463"/>
            </a:avLst>
          </a:prstGeom>
          <a:solidFill>
            <a:srgbClr val="13203A"/>
          </a:solidFill>
          <a:ln w="15875">
            <a:solidFill>
              <a:srgbClr val="00F5C4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36192"/>
            <a:ext cx="384048" cy="38404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417320" y="15544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F5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PROVEN // COMMITTED, REPRODUCIBLE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1440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failures caught in DFT, CCSD(T), and DMRG on industrial chemistry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laboratory-verified ground-state calls — one cryptographically blind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Audit-at-scale: 38q reference corrected AND χ-escalation counter-audit held (χ=400/800/1200 all above the audit)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flagship: pre-registered P1 + P2 PASS vs the frozen reference; our own χ-audit shows absolute chem-accuracy needs the next frozen step (E3) — stated, not hidden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6217920" y="1280160"/>
            <a:ext cx="5349240" cy="3749040"/>
          </a:xfrm>
          <a:prstGeom prst="roundRect">
            <a:avLst>
              <a:gd name="adj" fmla="val 1463"/>
            </a:avLst>
          </a:prstGeom>
          <a:solidFill>
            <a:srgbClr val="13203A"/>
          </a:solidFill>
          <a:ln w="15875">
            <a:solidFill>
              <a:srgbClr val="4DD8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36192"/>
            <a:ext cx="384048" cy="38404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995160" y="15544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 // STATED AS SUCH, NEVER AS DONE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49224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Device-sampled selection at 40q: seed committed, protocol frozen (E2) — execution awaits compute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trapped-ion QPU results — verified circuits already queued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chemistry coverage beyond the demonstrated oxide classes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Device-sampled selection moving the certified frontier past 40 qubits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640080" y="5349240"/>
            <a:ext cx="10927080" cy="1005840"/>
          </a:xfrm>
          <a:prstGeom prst="roundRect">
            <a:avLst>
              <a:gd name="adj" fmla="val 8182"/>
            </a:avLst>
          </a:prstGeom>
          <a:solidFill>
            <a:srgbClr val="00F5C4"/>
          </a:solidFill>
          <a:ln/>
        </p:spPr>
      </p:sp>
      <p:sp>
        <p:nvSpPr>
          <p:cNvPr id="26" name="Text 22"/>
          <p:cNvSpPr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the MATGEN-Q audit on the decision-gate numbers of one live screening program — and count the dead-ends it removes.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2026-07-19T23:23:24Z</dcterms:created>
  <dcterms:modified xsi:type="dcterms:W3CDTF">2026-07-19T23:23:24Z</dcterms:modified>
</cp:coreProperties>
</file>