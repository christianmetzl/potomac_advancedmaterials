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EIGENNEXUS // MATGEN-Q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754880" y="54864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BCC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AUDIT-GRADE COMPUTATIONAL CHEMISTRY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07040" y="2743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47472"/>
            <a:ext cx="10927080" cy="0"/>
          </a:xfrm>
          <a:prstGeom prst="line">
            <a:avLst/>
          </a:prstGeom>
          <a:noFill/>
          <a:ln w="9525">
            <a:solidFill>
              <a:srgbClr val="2440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08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86616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41480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2608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786616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841480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401300" y="2994660"/>
            <a:ext cx="1051560" cy="1051560"/>
          </a:xfrm>
          <a:prstGeom prst="ellipse">
            <a:avLst/>
          </a:prstGeom>
          <a:ln w="9525">
            <a:solidFill>
              <a:srgbClr val="2440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35540" y="2628900"/>
            <a:ext cx="1783080" cy="1783080"/>
          </a:xfrm>
          <a:prstGeom prst="ellipse">
            <a:avLst/>
          </a:prstGeom>
          <a:ln w="9525">
            <a:solidFill>
              <a:srgbClr val="24406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69780" y="2263140"/>
            <a:ext cx="2514600" cy="2514600"/>
          </a:xfrm>
          <a:prstGeom prst="ellipse">
            <a:avLst/>
          </a:prstGeom>
          <a:ln w="9525">
            <a:solidFill>
              <a:srgbClr val="24406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515600" y="1097280"/>
            <a:ext cx="100584" cy="100584"/>
          </a:xfrm>
          <a:prstGeom prst="ellipse">
            <a:avLst/>
          </a:prstGeom>
          <a:solidFill>
            <a:srgbClr val="4DD8FF">
              <a:alpha val="3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1247120" y="1737360"/>
            <a:ext cx="137160" cy="137160"/>
          </a:xfrm>
          <a:prstGeom prst="ellipse">
            <a:avLst/>
          </a:prstGeom>
          <a:solidFill>
            <a:srgbClr val="00F5C4">
              <a:alpha val="3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0881360" y="2651760"/>
            <a:ext cx="173736" cy="173736"/>
          </a:xfrm>
          <a:prstGeom prst="ellipse">
            <a:avLst/>
          </a:prstGeom>
          <a:solidFill>
            <a:srgbClr val="4DD8FF">
              <a:alpha val="3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1612880" y="3383280"/>
            <a:ext cx="100584" cy="100584"/>
          </a:xfrm>
          <a:prstGeom prst="ellipse">
            <a:avLst/>
          </a:prstGeom>
          <a:solidFill>
            <a:srgbClr val="00F5C4">
              <a:alpha val="3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0424160" y="4206240"/>
            <a:ext cx="137160" cy="137160"/>
          </a:xfrm>
          <a:prstGeom prst="ellipse">
            <a:avLst/>
          </a:prstGeom>
          <a:solidFill>
            <a:srgbClr val="4DD8FF">
              <a:alpha val="3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1338560" y="5120640"/>
            <a:ext cx="173736" cy="173736"/>
          </a:xfrm>
          <a:prstGeom prst="ellipse">
            <a:avLst/>
          </a:prstGeom>
          <a:solidFill>
            <a:srgbClr val="00F5C4">
              <a:alpha val="3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0789920" y="5943600"/>
            <a:ext cx="100584" cy="100584"/>
          </a:xfrm>
          <a:prstGeom prst="ellipse">
            <a:avLst/>
          </a:prstGeom>
          <a:solidFill>
            <a:srgbClr val="4DD8FF">
              <a:alpha val="3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0570464" y="1152144"/>
            <a:ext cx="713232" cy="621792"/>
          </a:xfrm>
          <a:prstGeom prst="line">
            <a:avLst/>
          </a:prstGeom>
          <a:noFill/>
          <a:ln w="9525">
            <a:solidFill>
              <a:srgbClr val="2440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>
            <a:off x="11301984" y="1792224"/>
            <a:ext cx="384048" cy="896112"/>
          </a:xfrm>
          <a:prstGeom prst="line">
            <a:avLst/>
          </a:prstGeom>
          <a:noFill/>
          <a:ln w="9525">
            <a:solidFill>
              <a:srgbClr val="24406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2743200"/>
            <a:ext cx="676656" cy="676656"/>
          </a:xfrm>
          <a:prstGeom prst="line">
            <a:avLst/>
          </a:prstGeom>
          <a:noFill/>
          <a:ln w="9525">
            <a:solidFill>
              <a:srgbClr val="24406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2960" y="868680"/>
            <a:ext cx="868680" cy="868680"/>
          </a:xfrm>
          <a:prstGeom prst="ellipse">
            <a:avLst/>
          </a:prstGeom>
          <a:solidFill>
            <a:srgbClr val="13203A"/>
          </a:solidFill>
          <a:ln w="19050">
            <a:solidFill>
              <a:srgbClr val="00F5C4"/>
            </a:solidFill>
            <a:prstDash val="solid"/>
          </a:ln>
        </p:spPr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504" y="1103224"/>
            <a:ext cx="399593" cy="399593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777240" y="182880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effectLst>
                  <a:glow rad="76200">
                    <a:srgbClr val="4DD8FF">
                      <a:alpha val="30000"/>
                    </a:srgbClr>
                  </a:glo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MATGEN-Q</a:t>
            </a:r>
            <a:endParaRPr lang="en-US" sz="5400" dirty="0"/>
          </a:p>
        </p:txBody>
      </p:sp>
      <p:sp>
        <p:nvSpPr>
          <p:cNvPr id="30" name="Text 27"/>
          <p:cNvSpPr/>
          <p:nvPr/>
        </p:nvSpPr>
        <p:spPr>
          <a:xfrm>
            <a:off x="822960" y="278892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spc="200" kern="0" dirty="0">
                <a:solidFill>
                  <a:srgbClr val="00F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AUDIT LAYER FOR MATERIALS R&amp;D</a:t>
            </a:r>
            <a:endParaRPr lang="en-US" sz="2500" dirty="0"/>
          </a:p>
        </p:txBody>
      </p:sp>
      <p:sp>
        <p:nvSpPr>
          <p:cNvPr id="31" name="Text 28"/>
          <p:cNvSpPr/>
          <p:nvPr/>
        </p:nvSpPr>
        <p:spPr>
          <a:xfrm>
            <a:off x="822960" y="3474720"/>
            <a:ext cx="9418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Computational chemistry that knows which side of the truth it is on —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proves when the standard methods are silently wrong.</a:t>
            </a:r>
            <a:endParaRPr lang="en-US" sz="1700" dirty="0"/>
          </a:p>
        </p:txBody>
      </p:sp>
      <p:sp>
        <p:nvSpPr>
          <p:cNvPr id="32" name="Text 29"/>
          <p:cNvSpPr/>
          <p:nvPr/>
        </p:nvSpPr>
        <p:spPr>
          <a:xfrm>
            <a:off x="822960" y="45262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VARIATIONAL BOUND ......... ACTIVE ]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822960" y="481888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[ 40Q FLAGSHIP ......... P1/P2 PASS ]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822960" y="511149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F5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REPRO CHECKS ............ 24 / 24 ]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822960" y="5623560"/>
            <a:ext cx="4754880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822960" y="57607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EIGENNEXUS  ·  GIC 2026 Advanced Materials Finalist (Mitsubishi Chemical &amp; AIST)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on every slide is committed, reproducible evidence — one command, 24 automated checks.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EIGENNEXUS // MATGEN-Q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754880" y="54864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BCC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SILENT-FAILURE SCAN // DFT · CCSD(T) · DMRG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07040" y="2743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47472"/>
            <a:ext cx="10927080" cy="0"/>
          </a:xfrm>
          <a:prstGeom prst="line">
            <a:avLst/>
          </a:prstGeom>
          <a:noFill/>
          <a:ln w="9525">
            <a:solidFill>
              <a:srgbClr val="2440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08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86616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41480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2608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786616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841480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572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effectLst>
                  <a:glow rad="76200">
                    <a:srgbClr val="4DD8FF">
                      <a:alpha val="30000"/>
                    </a:srgbClr>
                  </a:glo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Every “gold standard” fails silently</a:t>
            </a:r>
            <a:endParaRPr lang="en-US" sz="3200" dirty="0"/>
          </a:p>
        </p:txBody>
      </p:sp>
      <p:sp>
        <p:nvSpPr>
          <p:cNvPr id="15" name="Shape 13"/>
          <p:cNvSpPr/>
          <p:nvPr/>
        </p:nvSpPr>
        <p:spPr>
          <a:xfrm>
            <a:off x="640080" y="1024128"/>
            <a:ext cx="1371600" cy="36576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16" name="Shape 14"/>
          <p:cNvSpPr/>
          <p:nvPr/>
        </p:nvSpPr>
        <p:spPr>
          <a:xfrm>
            <a:off x="2048256" y="1024128"/>
            <a:ext cx="594360" cy="36576"/>
          </a:xfrm>
          <a:prstGeom prst="rect">
            <a:avLst/>
          </a:prstGeom>
          <a:solidFill>
            <a:srgbClr val="4DD8FF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1097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R&amp;D advances candidates to synthesis based on computed numbers nobody can double-check. We audited the standard toolchain on real industrial chemistry — and caught all three tiers: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1783080"/>
            <a:ext cx="3520440" cy="3200400"/>
          </a:xfrm>
          <a:prstGeom prst="roundRect">
            <a:avLst>
              <a:gd name="adj" fmla="val 1714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4672" y="1762963"/>
            <a:ext cx="685800" cy="41148"/>
          </a:xfrm>
          <a:prstGeom prst="rect">
            <a:avLst/>
          </a:prstGeom>
          <a:solidFill>
            <a:srgbClr val="FF5F6E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2057400"/>
            <a:ext cx="384048" cy="384048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417320" y="20574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CC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SCREENING TIER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1417320" y="22860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DFT</a:t>
            </a:r>
            <a:endParaRPr lang="en-US" sz="2400" dirty="0"/>
          </a:p>
        </p:txBody>
      </p:sp>
      <p:sp>
        <p:nvSpPr>
          <p:cNvPr id="23" name="Text 20"/>
          <p:cNvSpPr/>
          <p:nvPr/>
        </p:nvSpPr>
        <p:spPr>
          <a:xfrm>
            <a:off x="896112" y="29260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750" b="1" dirty="0">
                <a:solidFill>
                  <a:srgbClr val="FF5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ground state</a:t>
            </a:r>
            <a:endParaRPr lang="en-US" sz="1750" dirty="0"/>
          </a:p>
        </p:txBody>
      </p:sp>
      <p:sp>
        <p:nvSpPr>
          <p:cNvPr id="24" name="Text 21"/>
          <p:cNvSpPr/>
          <p:nvPr/>
        </p:nvSpPr>
        <p:spPr>
          <a:xfrm>
            <a:off x="896112" y="3721608"/>
            <a:ext cx="30083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 spin state: functionals disagree by 1.9 eV; B3LYP inverts the answer outright — a screen built on it mis-ranks every CrO-like candidate.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4416552" y="1783080"/>
            <a:ext cx="3520440" cy="3200400"/>
          </a:xfrm>
          <a:prstGeom prst="roundRect">
            <a:avLst>
              <a:gd name="adj" fmla="val 1714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581144" y="1762963"/>
            <a:ext cx="685800" cy="41148"/>
          </a:xfrm>
          <a:prstGeom prst="rect">
            <a:avLst/>
          </a:prstGeom>
          <a:solidFill>
            <a:srgbClr val="FF5F6E"/>
          </a:solidFill>
          <a:ln/>
        </p:spPr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2584" y="2057400"/>
            <a:ext cx="384048" cy="384048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5193792" y="20574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CC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ACCURACY TIER</a:t>
            </a:r>
            <a:endParaRPr lang="en-US" sz="1000" dirty="0"/>
          </a:p>
        </p:txBody>
      </p:sp>
      <p:sp>
        <p:nvSpPr>
          <p:cNvPr id="29" name="Text 25"/>
          <p:cNvSpPr/>
          <p:nvPr/>
        </p:nvSpPr>
        <p:spPr>
          <a:xfrm>
            <a:off x="5193792" y="22860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CCSD(T)</a:t>
            </a:r>
            <a:endParaRPr lang="en-US" sz="2400" dirty="0"/>
          </a:p>
        </p:txBody>
      </p:sp>
      <p:sp>
        <p:nvSpPr>
          <p:cNvPr id="30" name="Text 26"/>
          <p:cNvSpPr/>
          <p:nvPr/>
        </p:nvSpPr>
        <p:spPr>
          <a:xfrm>
            <a:off x="4672584" y="29260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750" b="1" dirty="0">
                <a:solidFill>
                  <a:srgbClr val="FF5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 by 217 mHa — confidently</a:t>
            </a:r>
            <a:endParaRPr lang="en-US" sz="1750" dirty="0"/>
          </a:p>
        </p:txBody>
      </p:sp>
      <p:sp>
        <p:nvSpPr>
          <p:cNvPr id="31" name="Text 27"/>
          <p:cNvSpPr/>
          <p:nvPr/>
        </p:nvSpPr>
        <p:spPr>
          <a:xfrm>
            <a:off x="4672584" y="3721608"/>
            <a:ext cx="30083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Collapses non-variationally below the exact energy on bond-breaking — precise-looking, unphysical, and it never warns you.</a:t>
            </a:r>
            <a:endParaRPr lang="en-US" sz="1250" dirty="0"/>
          </a:p>
        </p:txBody>
      </p:sp>
      <p:sp>
        <p:nvSpPr>
          <p:cNvPr id="32" name="Shape 28"/>
          <p:cNvSpPr/>
          <p:nvPr/>
        </p:nvSpPr>
        <p:spPr>
          <a:xfrm>
            <a:off x="8193024" y="1783080"/>
            <a:ext cx="3520440" cy="3200400"/>
          </a:xfrm>
          <a:prstGeom prst="roundRect">
            <a:avLst>
              <a:gd name="adj" fmla="val 1714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8357616" y="1762963"/>
            <a:ext cx="685800" cy="41148"/>
          </a:xfrm>
          <a:prstGeom prst="rect">
            <a:avLst/>
          </a:prstGeom>
          <a:solidFill>
            <a:srgbClr val="FF5F6E"/>
          </a:solidFill>
          <a:ln/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9056" y="2057400"/>
            <a:ext cx="384048" cy="384048"/>
          </a:xfrm>
          <a:prstGeom prst="rect">
            <a:avLst/>
          </a:prstGeom>
        </p:spPr>
      </p:pic>
      <p:sp>
        <p:nvSpPr>
          <p:cNvPr id="35" name="Text 30"/>
          <p:cNvSpPr/>
          <p:nvPr/>
        </p:nvSpPr>
        <p:spPr>
          <a:xfrm>
            <a:off x="8970264" y="20574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CC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REFERENCE TIER</a:t>
            </a:r>
            <a:endParaRPr lang="en-US" sz="1000" dirty="0"/>
          </a:p>
        </p:txBody>
      </p:sp>
      <p:sp>
        <p:nvSpPr>
          <p:cNvPr id="36" name="Text 31"/>
          <p:cNvSpPr/>
          <p:nvPr/>
        </p:nvSpPr>
        <p:spPr>
          <a:xfrm>
            <a:off x="8970264" y="22860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DMRG</a:t>
            </a:r>
            <a:endParaRPr lang="en-US" sz="2400" dirty="0"/>
          </a:p>
        </p:txBody>
      </p:sp>
      <p:sp>
        <p:nvSpPr>
          <p:cNvPr id="37" name="Text 32"/>
          <p:cNvSpPr/>
          <p:nvPr/>
        </p:nvSpPr>
        <p:spPr>
          <a:xfrm>
            <a:off x="8449056" y="29260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750" b="1" dirty="0">
                <a:solidFill>
                  <a:srgbClr val="FF5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~3.8 mHa silent truncation error</a:t>
            </a:r>
            <a:endParaRPr lang="en-US" sz="1750" dirty="0"/>
          </a:p>
        </p:txBody>
      </p:sp>
      <p:sp>
        <p:nvSpPr>
          <p:cNvPr id="38" name="Text 33"/>
          <p:cNvSpPr/>
          <p:nvPr/>
        </p:nvSpPr>
        <p:spPr>
          <a:xfrm>
            <a:off x="8449056" y="3721608"/>
            <a:ext cx="30083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realistic 38-qubit transition-metal problem the reference was off by ~2.4 kcal/mol — and raising its bond dimension 2× and 3× only converged it toward our audit's answer, from above.</a:t>
            </a:r>
            <a:endParaRPr lang="en-US" sz="1250" dirty="0"/>
          </a:p>
        </p:txBody>
      </p:sp>
      <p:sp>
        <p:nvSpPr>
          <p:cNvPr id="39" name="Shape 34"/>
          <p:cNvSpPr/>
          <p:nvPr/>
        </p:nvSpPr>
        <p:spPr>
          <a:xfrm>
            <a:off x="640080" y="5349240"/>
            <a:ext cx="10927080" cy="960120"/>
          </a:xfrm>
          <a:prstGeom prst="roundRect">
            <a:avLst>
              <a:gd name="adj" fmla="val 5714"/>
            </a:avLst>
          </a:prstGeom>
          <a:solidFill>
            <a:srgbClr val="13203A"/>
          </a:solidFill>
          <a:ln w="12700">
            <a:solidFill>
              <a:srgbClr val="FF5F6E"/>
            </a:solidFill>
            <a:prstDash val="solid"/>
          </a:ln>
        </p:spPr>
      </p:sp>
      <p:pic>
        <p:nvPicPr>
          <p:cNvPr id="4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605272"/>
            <a:ext cx="457200" cy="457200"/>
          </a:xfrm>
          <a:prstGeom prst="rect">
            <a:avLst/>
          </a:prstGeom>
        </p:spPr>
      </p:pic>
      <p:sp>
        <p:nvSpPr>
          <p:cNvPr id="41" name="Text 35"/>
          <p:cNvSpPr/>
          <p:nvPr/>
        </p:nvSpPr>
        <p:spPr>
          <a:xfrm>
            <a:off x="1600200" y="5440680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of a silent failure: </a:t>
            </a:r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mis-ranked candidate sends a synthesis campaign after a dead end — $100k to $1M+ </a:t>
            </a:r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staff, materials, and lost time before the lab finds out.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EIGENNEXUS // MATGEN-Q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754880" y="54864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BCC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MECHANISM // ONE-SIDED · SELF-CERTIFYING · CONVICTING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07040" y="2743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47472"/>
            <a:ext cx="10927080" cy="0"/>
          </a:xfrm>
          <a:prstGeom prst="line">
            <a:avLst/>
          </a:prstGeom>
          <a:noFill/>
          <a:ln w="9525">
            <a:solidFill>
              <a:srgbClr val="2440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08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86616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41480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2608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786616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841480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572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effectLst>
                  <a:glow rad="76200">
                    <a:srgbClr val="4DD8FF">
                      <a:alpha val="30000"/>
                    </a:srgbClr>
                  </a:glo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A measuring tape that can only read long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640080" y="1024128"/>
            <a:ext cx="1371600" cy="36576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16" name="Shape 14"/>
          <p:cNvSpPr/>
          <p:nvPr/>
        </p:nvSpPr>
        <p:spPr>
          <a:xfrm>
            <a:off x="2048256" y="1024128"/>
            <a:ext cx="594360" cy="36576"/>
          </a:xfrm>
          <a:prstGeom prst="rect">
            <a:avLst/>
          </a:prstGeom>
          <a:solidFill>
            <a:srgbClr val="4DD8FF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10972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properties no standard method has — each mathematical or demonstrated, not promised: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1783080"/>
            <a:ext cx="10927080" cy="1234440"/>
          </a:xfrm>
          <a:prstGeom prst="roundRect">
            <a:avLst>
              <a:gd name="adj" fmla="val 4444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4672" y="1762963"/>
            <a:ext cx="685800" cy="41148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20" name="Shape 18"/>
          <p:cNvSpPr/>
          <p:nvPr/>
        </p:nvSpPr>
        <p:spPr>
          <a:xfrm>
            <a:off x="914400" y="2066544"/>
            <a:ext cx="658368" cy="658368"/>
          </a:xfrm>
          <a:prstGeom prst="ellipse">
            <a:avLst/>
          </a:prstGeom>
          <a:solidFill>
            <a:srgbClr val="13203A"/>
          </a:solidFill>
          <a:ln w="19050">
            <a:solidFill>
              <a:srgbClr val="00F5C4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159" y="2244303"/>
            <a:ext cx="302849" cy="302849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1874520" y="1929384"/>
            <a:ext cx="9418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0F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One-sided by construction</a:t>
            </a:r>
            <a:endParaRPr lang="en-US" sz="1850" dirty="0"/>
          </a:p>
        </p:txBody>
      </p:sp>
      <p:sp>
        <p:nvSpPr>
          <p:cNvPr id="23" name="Text 20"/>
          <p:cNvSpPr/>
          <p:nvPr/>
        </p:nvSpPr>
        <p:spPr>
          <a:xfrm>
            <a:off x="1874520" y="2313432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energy can never fall below the truth — a guarantee of mathematics, not testing. It always knows which side of the answer it is on.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640080" y="3200400"/>
            <a:ext cx="10927080" cy="1234440"/>
          </a:xfrm>
          <a:prstGeom prst="roundRect">
            <a:avLst>
              <a:gd name="adj" fmla="val 4444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04672" y="3180283"/>
            <a:ext cx="685800" cy="41148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26" name="Shape 23"/>
          <p:cNvSpPr/>
          <p:nvPr/>
        </p:nvSpPr>
        <p:spPr>
          <a:xfrm>
            <a:off x="914400" y="3483864"/>
            <a:ext cx="658368" cy="658368"/>
          </a:xfrm>
          <a:prstGeom prst="ellipse">
            <a:avLst/>
          </a:prstGeom>
          <a:solidFill>
            <a:srgbClr val="13203A"/>
          </a:solidFill>
          <a:ln w="19050">
            <a:solidFill>
              <a:srgbClr val="00F5C4"/>
            </a:solidFill>
            <a:prstDash val="solid"/>
          </a:ln>
        </p:spPr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159" y="3661623"/>
            <a:ext cx="302849" cy="302849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1874520" y="3346704"/>
            <a:ext cx="9418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0F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Self-certifying</a:t>
            </a:r>
            <a:endParaRPr lang="en-US" sz="1850" dirty="0"/>
          </a:p>
        </p:txBody>
      </p:sp>
      <p:sp>
        <p:nvSpPr>
          <p:cNvPr id="29" name="Text 25"/>
          <p:cNvSpPr/>
          <p:nvPr/>
        </p:nvSpPr>
        <p:spPr>
          <a:xfrm>
            <a:off x="1874520" y="37307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result carries its own error estimate that shrinks as compute is added (demonstrated tracking reality at R² = 0.999). When the bar is under chemical accuracy, the number is the truth for every practical purpose.</a:t>
            </a:r>
            <a:endParaRPr lang="en-US" sz="1350" dirty="0"/>
          </a:p>
        </p:txBody>
      </p:sp>
      <p:sp>
        <p:nvSpPr>
          <p:cNvPr id="30" name="Shape 26"/>
          <p:cNvSpPr/>
          <p:nvPr/>
        </p:nvSpPr>
        <p:spPr>
          <a:xfrm>
            <a:off x="640080" y="4617720"/>
            <a:ext cx="10927080" cy="1234440"/>
          </a:xfrm>
          <a:prstGeom prst="roundRect">
            <a:avLst>
              <a:gd name="adj" fmla="val 4444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804672" y="4597603"/>
            <a:ext cx="685800" cy="41148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32" name="Shape 28"/>
          <p:cNvSpPr/>
          <p:nvPr/>
        </p:nvSpPr>
        <p:spPr>
          <a:xfrm>
            <a:off x="914400" y="4901184"/>
            <a:ext cx="658368" cy="658368"/>
          </a:xfrm>
          <a:prstGeom prst="ellipse">
            <a:avLst/>
          </a:prstGeom>
          <a:solidFill>
            <a:srgbClr val="13203A"/>
          </a:solidFill>
          <a:ln w="19050">
            <a:solidFill>
              <a:srgbClr val="00F5C4"/>
            </a:solidFill>
            <a:prstDash val="solid"/>
          </a:ln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159" y="5078943"/>
            <a:ext cx="302849" cy="302849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1874520" y="4764024"/>
            <a:ext cx="9418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0F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Convicts other methods — even before full convergence</a:t>
            </a:r>
            <a:endParaRPr lang="en-US" sz="1850" dirty="0"/>
          </a:p>
        </p:txBody>
      </p:sp>
      <p:sp>
        <p:nvSpPr>
          <p:cNvPr id="35" name="Text 30"/>
          <p:cNvSpPr/>
          <p:nvPr/>
        </p:nvSpPr>
        <p:spPr>
          <a:xfrm>
            <a:off x="1874520" y="5148072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answer sitting on the impossible side of the audit’s bound is provably wrong. No expert judgment call, no debate — that is how CCSD(T) and the DMRG reference were caught.</a:t>
            </a:r>
            <a:endParaRPr lang="en-US" sz="1350" dirty="0"/>
          </a:p>
        </p:txBody>
      </p:sp>
      <p:sp>
        <p:nvSpPr>
          <p:cNvPr id="36" name="Text 31"/>
          <p:cNvSpPr/>
          <p:nvPr/>
        </p:nvSpPr>
        <p:spPr>
          <a:xfrm>
            <a:off x="640080" y="6053328"/>
            <a:ext cx="10927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b="1" i="1" dirty="0">
                <a:solidFill>
                  <a:srgbClr val="00F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“It always knows which side of the truth it is on, always knows roughly how far, becomes the truth if you pay enough compute — and can convict other methods of being wrong even before it gets there.”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EIGENNEXUS // MATGEN-Q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754880" y="54864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BCC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CLAIM TAXONOMY // FOUR TIERS, LABELED ON THE PRODUCT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07040" y="2743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47472"/>
            <a:ext cx="10927080" cy="0"/>
          </a:xfrm>
          <a:prstGeom prst="line">
            <a:avLst/>
          </a:prstGeom>
          <a:noFill/>
          <a:ln w="9525">
            <a:solidFill>
              <a:srgbClr val="2440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08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86616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41480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2608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786616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841480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572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effectLst>
                  <a:glow rad="76200">
                    <a:srgbClr val="4DD8FF">
                      <a:alpha val="30000"/>
                    </a:srgbClr>
                  </a:glo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What the stamp covers — and what it doesn’t</a:t>
            </a:r>
            <a:endParaRPr lang="en-US" sz="3200" dirty="0"/>
          </a:p>
        </p:txBody>
      </p:sp>
      <p:sp>
        <p:nvSpPr>
          <p:cNvPr id="15" name="Shape 13"/>
          <p:cNvSpPr/>
          <p:nvPr/>
        </p:nvSpPr>
        <p:spPr>
          <a:xfrm>
            <a:off x="640080" y="1024128"/>
            <a:ext cx="1371600" cy="36576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16" name="Shape 14"/>
          <p:cNvSpPr/>
          <p:nvPr/>
        </p:nvSpPr>
        <p:spPr>
          <a:xfrm>
            <a:off x="2048256" y="1024128"/>
            <a:ext cx="594360" cy="36576"/>
          </a:xfrm>
          <a:prstGeom prst="rect">
            <a:avLst/>
          </a:prstGeom>
          <a:solidFill>
            <a:srgbClr val="4DD8FF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1078992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guarantee is a scalpel, not a blanket. Four tiers of claim, each labeled on the product itself: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1600200"/>
            <a:ext cx="10927080" cy="1060704"/>
          </a:xfrm>
          <a:prstGeom prst="roundRect">
            <a:avLst>
              <a:gd name="adj" fmla="val 5172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4672" y="1580083"/>
            <a:ext cx="685800" cy="41148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20" name="Shape 18"/>
          <p:cNvSpPr/>
          <p:nvPr/>
        </p:nvSpPr>
        <p:spPr>
          <a:xfrm>
            <a:off x="896112" y="1837944"/>
            <a:ext cx="585216" cy="585216"/>
          </a:xfrm>
          <a:prstGeom prst="ellipse">
            <a:avLst/>
          </a:prstGeom>
          <a:solidFill>
            <a:srgbClr val="13203A"/>
          </a:solidFill>
          <a:ln w="19050">
            <a:solidFill>
              <a:srgbClr val="00F5C4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120" y="1995952"/>
            <a:ext cx="269199" cy="269199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1737360" y="170992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energies</a:t>
            </a:r>
            <a:endParaRPr lang="en-US" sz="1650" dirty="0"/>
          </a:p>
        </p:txBody>
      </p:sp>
      <p:sp>
        <p:nvSpPr>
          <p:cNvPr id="23" name="Text 20"/>
          <p:cNvSpPr/>
          <p:nvPr/>
        </p:nvSpPr>
        <p:spPr>
          <a:xfrm>
            <a:off x="1737360" y="207568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variational bound and its error certificate apply directly — mathematics, not benchmarking. Every point of the CrO bond-breaking curve held to ≤2.8 mHa while CCSD(T) drifted by up to ~140.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9738360" y="1975104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00F5C4"/>
          </a:solidFill>
          <a:ln/>
        </p:spPr>
      </p:sp>
      <p:sp>
        <p:nvSpPr>
          <p:cNvPr id="25" name="Text 22"/>
          <p:cNvSpPr/>
          <p:nvPr/>
        </p:nvSpPr>
        <p:spPr>
          <a:xfrm>
            <a:off x="9738360" y="1961388"/>
            <a:ext cx="1645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60A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GUARANTEED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640080" y="2788920"/>
            <a:ext cx="10927080" cy="1060704"/>
          </a:xfrm>
          <a:prstGeom prst="roundRect">
            <a:avLst>
              <a:gd name="adj" fmla="val 5172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04672" y="2768803"/>
            <a:ext cx="685800" cy="41148"/>
          </a:xfrm>
          <a:prstGeom prst="rect">
            <a:avLst/>
          </a:prstGeom>
          <a:solidFill>
            <a:srgbClr val="4DD8FF"/>
          </a:solidFill>
          <a:ln/>
        </p:spPr>
      </p:sp>
      <p:sp>
        <p:nvSpPr>
          <p:cNvPr id="28" name="Shape 25"/>
          <p:cNvSpPr/>
          <p:nvPr/>
        </p:nvSpPr>
        <p:spPr>
          <a:xfrm>
            <a:off x="896112" y="3026664"/>
            <a:ext cx="585216" cy="585216"/>
          </a:xfrm>
          <a:prstGeom prst="ellipse">
            <a:avLst/>
          </a:prstGeom>
          <a:solidFill>
            <a:srgbClr val="13203A"/>
          </a:solidFill>
          <a:ln w="19050">
            <a:solidFill>
              <a:srgbClr val="4DD8FF"/>
            </a:solidFill>
            <a:prstDash val="solid"/>
          </a:ln>
        </p:spPr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120" y="3184672"/>
            <a:ext cx="269199" cy="269199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1737360" y="289864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differences — spin gaps, barriers</a:t>
            </a:r>
            <a:endParaRPr lang="en-US" sz="1650" dirty="0"/>
          </a:p>
        </p:txBody>
      </p:sp>
      <p:sp>
        <p:nvSpPr>
          <p:cNvPr id="31" name="Text 27"/>
          <p:cNvSpPr/>
          <p:nvPr/>
        </p:nvSpPr>
        <p:spPr>
          <a:xfrm>
            <a:off x="1737360" y="326440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difference of two one-sided bounds is not itself one-sided. A verdict is issued only after each state is individually converged to certified accuracy — exactly how the CrO and blind VO ground-state calls were made.</a:t>
            </a:r>
            <a:endParaRPr lang="en-US" sz="1150" dirty="0"/>
          </a:p>
        </p:txBody>
      </p:sp>
      <p:sp>
        <p:nvSpPr>
          <p:cNvPr id="32" name="Shape 28"/>
          <p:cNvSpPr/>
          <p:nvPr/>
        </p:nvSpPr>
        <p:spPr>
          <a:xfrm>
            <a:off x="9738360" y="3163824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4DD8FF"/>
          </a:solidFill>
          <a:ln/>
        </p:spPr>
      </p:sp>
      <p:sp>
        <p:nvSpPr>
          <p:cNvPr id="33" name="Text 29"/>
          <p:cNvSpPr/>
          <p:nvPr/>
        </p:nvSpPr>
        <p:spPr>
          <a:xfrm>
            <a:off x="9738360" y="3150108"/>
            <a:ext cx="1645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60A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CONDITIONAL</a:t>
            </a:r>
            <a:endParaRPr lang="en-US" sz="1050" dirty="0"/>
          </a:p>
        </p:txBody>
      </p:sp>
      <p:sp>
        <p:nvSpPr>
          <p:cNvPr id="34" name="Shape 30"/>
          <p:cNvSpPr/>
          <p:nvPr/>
        </p:nvSpPr>
        <p:spPr>
          <a:xfrm>
            <a:off x="640080" y="3977640"/>
            <a:ext cx="10927080" cy="1060704"/>
          </a:xfrm>
          <a:prstGeom prst="roundRect">
            <a:avLst>
              <a:gd name="adj" fmla="val 5172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804672" y="3957523"/>
            <a:ext cx="685800" cy="41148"/>
          </a:xfrm>
          <a:prstGeom prst="rect">
            <a:avLst/>
          </a:prstGeom>
          <a:solidFill>
            <a:srgbClr val="FFC24D"/>
          </a:solidFill>
          <a:ln/>
        </p:spPr>
      </p:sp>
      <p:sp>
        <p:nvSpPr>
          <p:cNvPr id="36" name="Shape 32"/>
          <p:cNvSpPr/>
          <p:nvPr/>
        </p:nvSpPr>
        <p:spPr>
          <a:xfrm>
            <a:off x="896112" y="4215384"/>
            <a:ext cx="585216" cy="585216"/>
          </a:xfrm>
          <a:prstGeom prst="ellipse">
            <a:avLst/>
          </a:prstGeom>
          <a:solidFill>
            <a:srgbClr val="13203A"/>
          </a:solidFill>
          <a:ln w="19050">
            <a:solidFill>
              <a:srgbClr val="FFC24D"/>
            </a:solidFill>
            <a:prstDash val="solid"/>
          </a:ln>
        </p:spPr>
      </p:sp>
      <p:pic>
        <p:nvPicPr>
          <p:cNvPr id="3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120" y="4373392"/>
            <a:ext cx="269199" cy="269199"/>
          </a:xfrm>
          <a:prstGeom prst="rect">
            <a:avLst/>
          </a:prstGeom>
        </p:spPr>
      </p:pic>
      <p:sp>
        <p:nvSpPr>
          <p:cNvPr id="38" name="Text 33"/>
          <p:cNvSpPr/>
          <p:nvPr/>
        </p:nvSpPr>
        <p:spPr>
          <a:xfrm>
            <a:off x="1737360" y="408736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Extrapolated &amp; derived quantities</a:t>
            </a:r>
            <a:endParaRPr lang="en-US" sz="1650" dirty="0"/>
          </a:p>
        </p:txBody>
      </p:sp>
      <p:sp>
        <p:nvSpPr>
          <p:cNvPr id="39" name="Text 34"/>
          <p:cNvSpPr/>
          <p:nvPr/>
        </p:nvSpPr>
        <p:spPr>
          <a:xfrm>
            <a:off x="1737360" y="445312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certificate’s extrapolation to the exact answer (demonstrated R² = 0.999) is a best estimate, not a bound. The evidence files carry that distinction explicitly — an estimate is never quoted as a guarantee.</a:t>
            </a:r>
            <a:endParaRPr lang="en-US" sz="1150" dirty="0"/>
          </a:p>
        </p:txBody>
      </p:sp>
      <p:sp>
        <p:nvSpPr>
          <p:cNvPr id="40" name="Shape 35"/>
          <p:cNvSpPr/>
          <p:nvPr/>
        </p:nvSpPr>
        <p:spPr>
          <a:xfrm>
            <a:off x="9738360" y="4352544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FFC24D"/>
          </a:solidFill>
          <a:ln/>
        </p:spPr>
      </p:sp>
      <p:sp>
        <p:nvSpPr>
          <p:cNvPr id="41" name="Text 36"/>
          <p:cNvSpPr/>
          <p:nvPr/>
        </p:nvSpPr>
        <p:spPr>
          <a:xfrm>
            <a:off x="9738360" y="4338828"/>
            <a:ext cx="1645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60A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ESTIMATE</a:t>
            </a:r>
            <a:endParaRPr lang="en-US" sz="1050" dirty="0"/>
          </a:p>
        </p:txBody>
      </p:sp>
      <p:sp>
        <p:nvSpPr>
          <p:cNvPr id="42" name="Shape 37"/>
          <p:cNvSpPr/>
          <p:nvPr/>
        </p:nvSpPr>
        <p:spPr>
          <a:xfrm>
            <a:off x="640080" y="5166360"/>
            <a:ext cx="10927080" cy="1060704"/>
          </a:xfrm>
          <a:prstGeom prst="roundRect">
            <a:avLst>
              <a:gd name="adj" fmla="val 5172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43" name="Shape 38"/>
          <p:cNvSpPr/>
          <p:nvPr/>
        </p:nvSpPr>
        <p:spPr>
          <a:xfrm>
            <a:off x="804672" y="5146243"/>
            <a:ext cx="685800" cy="41148"/>
          </a:xfrm>
          <a:prstGeom prst="rect">
            <a:avLst/>
          </a:prstGeom>
          <a:solidFill>
            <a:srgbClr val="FF5F6E"/>
          </a:solidFill>
          <a:ln/>
        </p:spPr>
      </p:sp>
      <p:sp>
        <p:nvSpPr>
          <p:cNvPr id="44" name="Shape 39"/>
          <p:cNvSpPr/>
          <p:nvPr/>
        </p:nvSpPr>
        <p:spPr>
          <a:xfrm>
            <a:off x="896112" y="5404104"/>
            <a:ext cx="585216" cy="585216"/>
          </a:xfrm>
          <a:prstGeom prst="ellipse">
            <a:avLst/>
          </a:prstGeom>
          <a:solidFill>
            <a:srgbClr val="13203A"/>
          </a:solidFill>
          <a:ln w="19050">
            <a:solidFill>
              <a:srgbClr val="FF5F6E"/>
            </a:solidFill>
            <a:prstDash val="solid"/>
          </a:ln>
        </p:spPr>
      </p:sp>
      <p:pic>
        <p:nvPicPr>
          <p:cNvPr id="4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120" y="5562112"/>
            <a:ext cx="269199" cy="269199"/>
          </a:xfrm>
          <a:prstGeom prst="rect">
            <a:avLst/>
          </a:prstGeom>
        </p:spPr>
      </p:pic>
      <p:sp>
        <p:nvSpPr>
          <p:cNvPr id="46" name="Text 40"/>
          <p:cNvSpPr/>
          <p:nvPr/>
        </p:nvSpPr>
        <p:spPr>
          <a:xfrm>
            <a:off x="1737360" y="527608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upstream of the correlated solve</a:t>
            </a:r>
            <a:endParaRPr lang="en-US" sz="1650" dirty="0"/>
          </a:p>
        </p:txBody>
      </p:sp>
      <p:sp>
        <p:nvSpPr>
          <p:cNvPr id="47" name="Text 41"/>
          <p:cNvSpPr/>
          <p:nvPr/>
        </p:nvSpPr>
        <p:spPr>
          <a:xfrm>
            <a:off x="1737360" y="56418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Basis set, active-space choice, environment effects: shared assumptions across every method compared. The audit certifies the step where silent failures live — it does not pretend to certify the whole modeling stack.</a:t>
            </a:r>
            <a:endParaRPr lang="en-US" sz="1150" dirty="0"/>
          </a:p>
        </p:txBody>
      </p:sp>
      <p:sp>
        <p:nvSpPr>
          <p:cNvPr id="48" name="Shape 42"/>
          <p:cNvSpPr/>
          <p:nvPr/>
        </p:nvSpPr>
        <p:spPr>
          <a:xfrm>
            <a:off x="9738360" y="5541264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FF5F6E"/>
          </a:solidFill>
          <a:ln/>
        </p:spPr>
      </p:sp>
      <p:sp>
        <p:nvSpPr>
          <p:cNvPr id="49" name="Text 43"/>
          <p:cNvSpPr/>
          <p:nvPr/>
        </p:nvSpPr>
        <p:spPr>
          <a:xfrm>
            <a:off x="9738360" y="5527548"/>
            <a:ext cx="1645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60A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 CLAIMED</a:t>
            </a:r>
            <a:endParaRPr lang="en-US" sz="1050" dirty="0"/>
          </a:p>
        </p:txBody>
      </p:sp>
      <p:sp>
        <p:nvSpPr>
          <p:cNvPr id="50" name="Text 44"/>
          <p:cNvSpPr/>
          <p:nvPr/>
        </p:nvSpPr>
        <p:spPr>
          <a:xfrm>
            <a:off x="640080" y="6400800"/>
            <a:ext cx="10927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stamp that states exactly what it covers is worth more than one that claims everything. </a:t>
            </a:r>
            <a:pPr indent="0" marL="0">
              <a:buNone/>
            </a:pPr>
            <a:r>
              <a:rPr lang="en-US" sz="1150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taxonomy is printed on the product — every evidence file names its tier — not buried in a footnote.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EIGENNEXUS // MATGEN-Q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754880" y="54864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BCC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EVIDENCE // LAB-VERIFIED · BLIND · AT SCALE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07040" y="2743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47472"/>
            <a:ext cx="10927080" cy="0"/>
          </a:xfrm>
          <a:prstGeom prst="line">
            <a:avLst/>
          </a:prstGeom>
          <a:noFill/>
          <a:ln w="9525">
            <a:solidFill>
              <a:srgbClr val="2440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08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86616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41480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2608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786616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841480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572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effectLst>
                  <a:glow rad="76200">
                    <a:srgbClr val="4DD8FF">
                      <a:alpha val="30000"/>
                    </a:srgbClr>
                  </a:glo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Proof, not promises</a:t>
            </a:r>
            <a:endParaRPr lang="en-US" sz="3200" dirty="0"/>
          </a:p>
        </p:txBody>
      </p:sp>
      <p:sp>
        <p:nvSpPr>
          <p:cNvPr id="15" name="Shape 13"/>
          <p:cNvSpPr/>
          <p:nvPr/>
        </p:nvSpPr>
        <p:spPr>
          <a:xfrm>
            <a:off x="640080" y="1024128"/>
            <a:ext cx="1371600" cy="36576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16" name="Shape 14"/>
          <p:cNvSpPr/>
          <p:nvPr/>
        </p:nvSpPr>
        <p:spPr>
          <a:xfrm>
            <a:off x="2048256" y="1024128"/>
            <a:ext cx="594360" cy="36576"/>
          </a:xfrm>
          <a:prstGeom prst="rect">
            <a:avLst/>
          </a:prstGeom>
          <a:solidFill>
            <a:srgbClr val="4DD8FF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1234440"/>
            <a:ext cx="5349240" cy="2194560"/>
          </a:xfrm>
          <a:prstGeom prst="roundRect">
            <a:avLst>
              <a:gd name="adj" fmla="val 2500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1214323"/>
            <a:ext cx="685800" cy="41148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19" name="Shape 17"/>
          <p:cNvSpPr/>
          <p:nvPr/>
        </p:nvSpPr>
        <p:spPr>
          <a:xfrm>
            <a:off x="896112" y="1472184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00F5C4"/>
          </a:solidFill>
          <a:ln/>
        </p:spPr>
      </p:sp>
      <p:sp>
        <p:nvSpPr>
          <p:cNvPr id="20" name="Text 18"/>
          <p:cNvSpPr/>
          <p:nvPr/>
        </p:nvSpPr>
        <p:spPr>
          <a:xfrm>
            <a:off x="896112" y="1458468"/>
            <a:ext cx="1600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60A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LAB-VERIFIED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96112" y="1856232"/>
            <a:ext cx="4837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 ground state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96112" y="2276856"/>
            <a:ext cx="48371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DFT (B3LYP) predicts the wrong ground state. The audit predicts the one measured in the laboratory — decades of spectroscopy agree with us, not DFT.</a:t>
            </a:r>
            <a:endParaRPr lang="en-US" sz="1280" dirty="0"/>
          </a:p>
        </p:txBody>
      </p:sp>
      <p:sp>
        <p:nvSpPr>
          <p:cNvPr id="23" name="Shape 21"/>
          <p:cNvSpPr/>
          <p:nvPr/>
        </p:nvSpPr>
        <p:spPr>
          <a:xfrm>
            <a:off x="6245352" y="1234440"/>
            <a:ext cx="5349240" cy="2194560"/>
          </a:xfrm>
          <a:prstGeom prst="roundRect">
            <a:avLst>
              <a:gd name="adj" fmla="val 2500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9944" y="1214323"/>
            <a:ext cx="685800" cy="41148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25" name="Shape 23"/>
          <p:cNvSpPr/>
          <p:nvPr/>
        </p:nvSpPr>
        <p:spPr>
          <a:xfrm>
            <a:off x="6501384" y="1472184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00F5C4"/>
          </a:solidFill>
          <a:ln/>
        </p:spPr>
      </p:sp>
      <p:sp>
        <p:nvSpPr>
          <p:cNvPr id="26" name="Text 24"/>
          <p:cNvSpPr/>
          <p:nvPr/>
        </p:nvSpPr>
        <p:spPr>
          <a:xfrm>
            <a:off x="6501384" y="1458468"/>
            <a:ext cx="1600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60A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BLIND TEST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501384" y="1856232"/>
            <a:ext cx="4837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 ground state — predicted blind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501384" y="2276856"/>
            <a:ext cx="48371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locked by cryptographic hash before the single frozen run. Result: matches the laboratory ground state. The audit is right when it cannot possibly peek.</a:t>
            </a:r>
            <a:endParaRPr lang="en-US" sz="1280" dirty="0"/>
          </a:p>
        </p:txBody>
      </p:sp>
      <p:sp>
        <p:nvSpPr>
          <p:cNvPr id="29" name="Shape 27"/>
          <p:cNvSpPr/>
          <p:nvPr/>
        </p:nvSpPr>
        <p:spPr>
          <a:xfrm>
            <a:off x="640080" y="3630168"/>
            <a:ext cx="5349240" cy="2194560"/>
          </a:xfrm>
          <a:prstGeom prst="roundRect">
            <a:avLst>
              <a:gd name="adj" fmla="val 2500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4672" y="3610051"/>
            <a:ext cx="685800" cy="41148"/>
          </a:xfrm>
          <a:prstGeom prst="rect">
            <a:avLst/>
          </a:prstGeom>
          <a:solidFill>
            <a:srgbClr val="FF5F6E"/>
          </a:solidFill>
          <a:ln/>
        </p:spPr>
      </p:sp>
      <p:sp>
        <p:nvSpPr>
          <p:cNvPr id="31" name="Shape 29"/>
          <p:cNvSpPr/>
          <p:nvPr/>
        </p:nvSpPr>
        <p:spPr>
          <a:xfrm>
            <a:off x="896112" y="3867912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FF5F6E"/>
          </a:solidFill>
          <a:ln/>
        </p:spPr>
      </p:sp>
      <p:sp>
        <p:nvSpPr>
          <p:cNvPr id="32" name="Text 30"/>
          <p:cNvSpPr/>
          <p:nvPr/>
        </p:nvSpPr>
        <p:spPr>
          <a:xfrm>
            <a:off x="896112" y="3854196"/>
            <a:ext cx="1600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60A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CONVICTION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96112" y="4251960"/>
            <a:ext cx="4837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CCSD(T) caught red-handed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96112" y="4672584"/>
            <a:ext cx="48371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answer sat 217 mHa below the exact energy — inside the region our bound proves impossible. The “accuracy gold standard,” convicted by mathematics.</a:t>
            </a:r>
            <a:endParaRPr lang="en-US" sz="1280" dirty="0"/>
          </a:p>
        </p:txBody>
      </p:sp>
      <p:sp>
        <p:nvSpPr>
          <p:cNvPr id="35" name="Shape 33"/>
          <p:cNvSpPr/>
          <p:nvPr/>
        </p:nvSpPr>
        <p:spPr>
          <a:xfrm>
            <a:off x="6245352" y="3630168"/>
            <a:ext cx="5349240" cy="2194560"/>
          </a:xfrm>
          <a:prstGeom prst="roundRect">
            <a:avLst>
              <a:gd name="adj" fmla="val 2500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9944" y="3610051"/>
            <a:ext cx="685800" cy="41148"/>
          </a:xfrm>
          <a:prstGeom prst="rect">
            <a:avLst/>
          </a:prstGeom>
          <a:solidFill>
            <a:srgbClr val="FF5F6E"/>
          </a:solidFill>
          <a:ln/>
        </p:spPr>
      </p:sp>
      <p:sp>
        <p:nvSpPr>
          <p:cNvPr id="37" name="Shape 35"/>
          <p:cNvSpPr/>
          <p:nvPr/>
        </p:nvSpPr>
        <p:spPr>
          <a:xfrm>
            <a:off x="6501384" y="3867912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FF5F6E"/>
          </a:solidFill>
          <a:ln/>
        </p:spPr>
      </p:sp>
      <p:sp>
        <p:nvSpPr>
          <p:cNvPr id="38" name="Text 36"/>
          <p:cNvSpPr/>
          <p:nvPr/>
        </p:nvSpPr>
        <p:spPr>
          <a:xfrm>
            <a:off x="6501384" y="3854196"/>
            <a:ext cx="1600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60A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 SCALE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501384" y="4251960"/>
            <a:ext cx="4837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DMRG reference corrected — thrice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6501384" y="4672584"/>
            <a:ext cx="48371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38 qubits on CrO the audit converged below the trusted reference — and below it again at 2× and 3× the reference bond dimension, the χ-ladder descending toward our answer from above. Provably closer to the truth, on rented cloud hardware.</a:t>
            </a:r>
            <a:endParaRPr lang="en-US" sz="1280" dirty="0"/>
          </a:p>
        </p:txBody>
      </p:sp>
      <p:sp>
        <p:nvSpPr>
          <p:cNvPr id="41" name="Text 39"/>
          <p:cNvSpPr/>
          <p:nvPr/>
        </p:nvSpPr>
        <p:spPr>
          <a:xfrm>
            <a:off x="640080" y="6053328"/>
            <a:ext cx="10927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 print, stated openly: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mathematical guarantee applies to energies; verdicts comparing two states (spin gaps) are trusted only after each state is individually converged to certified accuracy — as the CrO and VO calls above were.</a:t>
            </a:r>
            <a:pPr indent="0" marL="0">
              <a:lnSpc>
                <a:spcPct val="112000"/>
              </a:lnSpc>
              <a:buNone/>
            </a:pP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i="1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the evidence base: NiO (second oxide class), Sn-oxide EUV photoresist chemistry, exact-to-the-digit GPU execution.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6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EIGENNEXUS // MATGEN-Q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754880" y="54864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BCC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DEPLOYMENT ECONOMICS // TRIAGE MODEL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07040" y="2743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47472"/>
            <a:ext cx="10927080" cy="0"/>
          </a:xfrm>
          <a:prstGeom prst="line">
            <a:avLst/>
          </a:prstGeom>
          <a:noFill/>
          <a:ln w="9525">
            <a:solidFill>
              <a:srgbClr val="2440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08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86616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41480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2608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786616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841480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572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effectLst>
                  <a:glow rad="76200">
                    <a:srgbClr val="4DD8FF">
                      <a:alpha val="30000"/>
                    </a:srgbClr>
                  </a:glo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Audit the load-bearing welds</a:t>
            </a:r>
            <a:endParaRPr lang="en-US" sz="3200" dirty="0"/>
          </a:p>
        </p:txBody>
      </p:sp>
      <p:sp>
        <p:nvSpPr>
          <p:cNvPr id="15" name="Shape 13"/>
          <p:cNvSpPr/>
          <p:nvPr/>
        </p:nvSpPr>
        <p:spPr>
          <a:xfrm>
            <a:off x="640080" y="1024128"/>
            <a:ext cx="1371600" cy="36576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16" name="Shape 14"/>
          <p:cNvSpPr/>
          <p:nvPr/>
        </p:nvSpPr>
        <p:spPr>
          <a:xfrm>
            <a:off x="2048256" y="1024128"/>
            <a:ext cx="594360" cy="36576"/>
          </a:xfrm>
          <a:prstGeom prst="rect">
            <a:avLst/>
          </a:prstGeom>
          <a:solidFill>
            <a:srgbClr val="4DD8FF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Triage, not replacement: DFT keeps the screening job it is priced for. The audit sits at the one place errors become expensive: the go / no-go gate before synthesis.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31520" y="1828800"/>
            <a:ext cx="5120640" cy="731520"/>
          </a:xfrm>
          <a:prstGeom prst="roundRect">
            <a:avLst>
              <a:gd name="adj" fmla="val 10000"/>
            </a:avLst>
          </a:prstGeom>
          <a:solidFill>
            <a:srgbClr val="16325A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182880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~10⁶ candidates — DFT screen (pennies each)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1550822" y="2788920"/>
            <a:ext cx="3482035" cy="731520"/>
          </a:xfrm>
          <a:prstGeom prst="roundRect">
            <a:avLst>
              <a:gd name="adj" fmla="val 10000"/>
            </a:avLst>
          </a:prstGeom>
          <a:solidFill>
            <a:srgbClr val="1F4E8C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642262" y="2788920"/>
            <a:ext cx="32991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~10² survivors — refined models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2216506" y="3749040"/>
            <a:ext cx="2150669" cy="731520"/>
          </a:xfrm>
          <a:prstGeom prst="roundRect">
            <a:avLst>
              <a:gd name="adj" fmla="val 10000"/>
            </a:avLst>
          </a:prstGeom>
          <a:solidFill>
            <a:srgbClr val="4DD8FF"/>
          </a:solidFill>
          <a:ln w="12700">
            <a:solidFill>
              <a:srgbClr val="4DD8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307946" y="3749040"/>
            <a:ext cx="196778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60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Dozens: go / no-go synthesis decisions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1051560" y="4892040"/>
            <a:ext cx="4480560" cy="868680"/>
          </a:xfrm>
          <a:prstGeom prst="roundRect">
            <a:avLst>
              <a:gd name="adj" fmla="val 9474"/>
            </a:avLst>
          </a:prstGeom>
          <a:solidFill>
            <a:srgbClr val="00F5C4"/>
          </a:solidFill>
          <a:ln/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8448" y="5120640"/>
            <a:ext cx="411480" cy="41148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1828800" y="489204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60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MATGEN-Q AUDIT — $10–100 per decisive number</a:t>
            </a:r>
            <a:endParaRPr lang="en-US" sz="1350" dirty="0"/>
          </a:p>
        </p:txBody>
      </p:sp>
      <p:sp>
        <p:nvSpPr>
          <p:cNvPr id="27" name="Shape 24"/>
          <p:cNvSpPr/>
          <p:nvPr/>
        </p:nvSpPr>
        <p:spPr>
          <a:xfrm>
            <a:off x="3291840" y="4480560"/>
            <a:ext cx="0" cy="411480"/>
          </a:xfrm>
          <a:prstGeom prst="line">
            <a:avLst/>
          </a:prstGeom>
          <a:noFill/>
          <a:ln w="31750">
            <a:solidFill>
              <a:srgbClr val="00F5C4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6400800" y="1828800"/>
            <a:ext cx="5120640" cy="1920240"/>
          </a:xfrm>
          <a:prstGeom prst="roundRect">
            <a:avLst>
              <a:gd name="adj" fmla="val 2857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565392" y="1808683"/>
            <a:ext cx="685800" cy="41148"/>
          </a:xfrm>
          <a:prstGeom prst="rect">
            <a:avLst/>
          </a:prstGeom>
          <a:solidFill>
            <a:srgbClr val="FF5F6E"/>
          </a:solidFill>
          <a:ln/>
        </p:spPr>
      </p:sp>
      <p:sp>
        <p:nvSpPr>
          <p:cNvPr id="30" name="Text 27"/>
          <p:cNvSpPr/>
          <p:nvPr/>
        </p:nvSpPr>
        <p:spPr>
          <a:xfrm>
            <a:off x="6675120" y="201168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5F6E"/>
                </a:solidFill>
                <a:effectLst>
                  <a:glow rad="63500">
                    <a:srgbClr val="FF5F6E">
                      <a:alpha val="30000"/>
                    </a:srgbClr>
                  </a:glo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$100k – $1M+</a:t>
            </a:r>
            <a:endParaRPr lang="en-US" sz="3400" dirty="0"/>
          </a:p>
        </p:txBody>
      </p:sp>
      <p:sp>
        <p:nvSpPr>
          <p:cNvPr id="31" name="Text 28"/>
          <p:cNvSpPr/>
          <p:nvPr/>
        </p:nvSpPr>
        <p:spPr>
          <a:xfrm>
            <a:off x="6675120" y="26974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one synthesis campaign chasing a computationally mis-ranked candidate — the failure mode the audit exists to catch.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6400800" y="3931920"/>
            <a:ext cx="5120640" cy="1828800"/>
          </a:xfrm>
          <a:prstGeom prst="roundRect">
            <a:avLst>
              <a:gd name="adj" fmla="val 3000"/>
            </a:avLst>
          </a:prstGeom>
          <a:solidFill>
            <a:srgbClr val="13203A"/>
          </a:solidFill>
          <a:ln w="15875">
            <a:solidFill>
              <a:srgbClr val="00F5C4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675120" y="4114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F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avoided dead-end per year</a:t>
            </a:r>
            <a:endParaRPr lang="en-US" sz="1900" dirty="0"/>
          </a:p>
        </p:txBody>
      </p:sp>
      <p:sp>
        <p:nvSpPr>
          <p:cNvPr id="34" name="Text 31"/>
          <p:cNvSpPr/>
          <p:nvPr/>
        </p:nvSpPr>
        <p:spPr>
          <a:xfrm>
            <a:off x="6675120" y="457200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 for the audit layer across an entire screening portfolio. It doesn’t need “millions saved” to be worth deploying — though that is where the mechanism points.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640080" y="5989320"/>
            <a:ext cx="10927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don’t X-ray every weld in the shipyard — you X-ray the ones the hull depends on.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 print, stated openly: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 not claim a validated market size. Coverage today is the demonstrated oxide classes, and the audit certifies the correlated-electron solve — the silent-failure part — not every assumption in the modeling stack.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EIGENNEXUS // MATGEN-Q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754880" y="54864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BCC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TIMING // HARDWARE FRONTIER MOVES ONE WAY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07040" y="2743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47472"/>
            <a:ext cx="10927080" cy="0"/>
          </a:xfrm>
          <a:prstGeom prst="line">
            <a:avLst/>
          </a:prstGeom>
          <a:noFill/>
          <a:ln w="9525">
            <a:solidFill>
              <a:srgbClr val="2440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08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86616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41480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2608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786616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841480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572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effectLst>
                  <a:glow rad="76200">
                    <a:srgbClr val="4DD8FF">
                      <a:alpha val="30000"/>
                    </a:srgbClr>
                  </a:glo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Why now: the frontier only moves outward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640080" y="1024128"/>
            <a:ext cx="1371600" cy="36576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16" name="Shape 14"/>
          <p:cNvSpPr/>
          <p:nvPr/>
        </p:nvSpPr>
        <p:spPr>
          <a:xfrm>
            <a:off x="2048256" y="1024128"/>
            <a:ext cx="594360" cy="36576"/>
          </a:xfrm>
          <a:prstGeom prst="rect">
            <a:avLst/>
          </a:prstGeom>
          <a:solidFill>
            <a:srgbClr val="4DD8FF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1325880"/>
            <a:ext cx="10927080" cy="1371600"/>
          </a:xfrm>
          <a:prstGeom prst="roundRect">
            <a:avLst>
              <a:gd name="adj" fmla="val 4000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1305763"/>
            <a:ext cx="685800" cy="41148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19" name="Shape 17"/>
          <p:cNvSpPr/>
          <p:nvPr/>
        </p:nvSpPr>
        <p:spPr>
          <a:xfrm>
            <a:off x="914400" y="1664208"/>
            <a:ext cx="694944" cy="694944"/>
          </a:xfrm>
          <a:prstGeom prst="ellipse">
            <a:avLst/>
          </a:prstGeom>
          <a:solidFill>
            <a:srgbClr val="13203A"/>
          </a:solidFill>
          <a:ln w="19050">
            <a:solidFill>
              <a:srgbClr val="00F5C4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2035" y="1851843"/>
            <a:ext cx="319674" cy="319674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920240" y="1490472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0F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Executed on real hardware — today</a:t>
            </a:r>
            <a:endParaRPr lang="en-US" sz="1850" dirty="0"/>
          </a:p>
        </p:txBody>
      </p:sp>
      <p:sp>
        <p:nvSpPr>
          <p:cNvPr id="22" name="Text 19"/>
          <p:cNvSpPr/>
          <p:nvPr/>
        </p:nvSpPr>
        <p:spPr>
          <a:xfrm>
            <a:off x="1920240" y="1901952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to the digit at 20 qubits, chemically accurate at 28 — and now certified at the 40-qubit flagship: pre-registered chemical-accuracy and determinant-budget tests both PASS. Reference-correcting at 38. All on cloud instances anyone can rent.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40080" y="2898648"/>
            <a:ext cx="10927080" cy="1371600"/>
          </a:xfrm>
          <a:prstGeom prst="roundRect">
            <a:avLst>
              <a:gd name="adj" fmla="val 4000"/>
            </a:avLst>
          </a:prstGeom>
          <a:solidFill>
            <a:srgbClr val="13203A"/>
          </a:solidFill>
          <a:ln w="15875">
            <a:solidFill>
              <a:srgbClr val="4DD8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914400" y="3236976"/>
            <a:ext cx="694944" cy="694944"/>
          </a:xfrm>
          <a:prstGeom prst="ellipse">
            <a:avLst/>
          </a:prstGeom>
          <a:solidFill>
            <a:srgbClr val="13203A"/>
          </a:solidFill>
          <a:ln w="19050">
            <a:solidFill>
              <a:srgbClr val="4DD8FF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035" y="3424611"/>
            <a:ext cx="319674" cy="319674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1920240" y="306324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4DD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the quantum curve</a:t>
            </a:r>
            <a:endParaRPr lang="en-US" sz="1850" dirty="0"/>
          </a:p>
        </p:txBody>
      </p:sp>
      <p:sp>
        <p:nvSpPr>
          <p:cNvPr id="27" name="Text 23"/>
          <p:cNvSpPr/>
          <p:nvPr/>
        </p:nvSpPr>
        <p:spPr>
          <a:xfrm>
            <a:off x="1920240" y="347472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expensive step — selecting which configurations matter — is exactly what a quantum sampler does natively (CUDA-Q today, trapped-ion QPUs next: our verified circuits are already in the queue). As devices mature, certified truth gets cheaper every year.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640080" y="4471416"/>
            <a:ext cx="10927080" cy="1371600"/>
          </a:xfrm>
          <a:prstGeom prst="roundRect">
            <a:avLst>
              <a:gd name="adj" fmla="val 4000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804672" y="4451299"/>
            <a:ext cx="685800" cy="41148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30" name="Shape 26"/>
          <p:cNvSpPr/>
          <p:nvPr/>
        </p:nvSpPr>
        <p:spPr>
          <a:xfrm>
            <a:off x="914400" y="4809744"/>
            <a:ext cx="694944" cy="694944"/>
          </a:xfrm>
          <a:prstGeom prst="ellipse">
            <a:avLst/>
          </a:prstGeom>
          <a:solidFill>
            <a:srgbClr val="13203A"/>
          </a:solidFill>
          <a:ln w="19050">
            <a:solidFill>
              <a:srgbClr val="00F5C4"/>
            </a:solidFill>
            <a:prstDash val="solid"/>
          </a:ln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035" y="4997379"/>
            <a:ext cx="319674" cy="319674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1920240" y="4636008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0F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Credibility as a feature</a:t>
            </a:r>
            <a:endParaRPr lang="en-US" sz="1850" dirty="0"/>
          </a:p>
        </p:txBody>
      </p:sp>
      <p:sp>
        <p:nvSpPr>
          <p:cNvPr id="33" name="Text 28"/>
          <p:cNvSpPr/>
          <p:nvPr/>
        </p:nvSpPr>
        <p:spPr>
          <a:xfrm>
            <a:off x="1920240" y="5047488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Clinical-trial-style pre-registration, cryptographically frozen blind tests, published failures, and a one-command reproduction path with 24 automated checks. An audit you can audit.</a:t>
            </a:r>
            <a:endParaRPr lang="en-US" sz="1300" dirty="0"/>
          </a:p>
        </p:txBody>
      </p:sp>
      <p:sp>
        <p:nvSpPr>
          <p:cNvPr id="34" name="Text 29"/>
          <p:cNvSpPr/>
          <p:nvPr/>
        </p:nvSpPr>
        <p:spPr>
          <a:xfrm>
            <a:off x="640080" y="6199632"/>
            <a:ext cx="10927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Semiconductors (EUV photoresists) · catalysis · battery materials · magnetics — demonstrated on the chemistry these industries actually struggle with.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6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EIGENNEXUS // MATGEN-Q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754880" y="54864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BCC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 REGISTER // PROVEN vs ROADMAP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07040" y="2743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47472"/>
            <a:ext cx="10927080" cy="0"/>
          </a:xfrm>
          <a:prstGeom prst="line">
            <a:avLst/>
          </a:prstGeom>
          <a:noFill/>
          <a:ln w="9525">
            <a:solidFill>
              <a:srgbClr val="2440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08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86616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41480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2608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786616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841480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572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effectLst>
                  <a:glow rad="76200">
                    <a:srgbClr val="4DD8FF">
                      <a:alpha val="30000"/>
                    </a:srgbClr>
                  </a:glo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What is proven — and what is roadmap</a:t>
            </a:r>
            <a:endParaRPr lang="en-US" sz="3200" dirty="0"/>
          </a:p>
        </p:txBody>
      </p:sp>
      <p:sp>
        <p:nvSpPr>
          <p:cNvPr id="15" name="Shape 13"/>
          <p:cNvSpPr/>
          <p:nvPr/>
        </p:nvSpPr>
        <p:spPr>
          <a:xfrm>
            <a:off x="640080" y="1024128"/>
            <a:ext cx="1371600" cy="36576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16" name="Shape 14"/>
          <p:cNvSpPr/>
          <p:nvPr/>
        </p:nvSpPr>
        <p:spPr>
          <a:xfrm>
            <a:off x="2048256" y="1024128"/>
            <a:ext cx="594360" cy="36576"/>
          </a:xfrm>
          <a:prstGeom prst="rect">
            <a:avLst/>
          </a:prstGeom>
          <a:solidFill>
            <a:srgbClr val="4DD8FF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1280160"/>
            <a:ext cx="5349240" cy="3749040"/>
          </a:xfrm>
          <a:prstGeom prst="roundRect">
            <a:avLst>
              <a:gd name="adj" fmla="val 1463"/>
            </a:avLst>
          </a:prstGeom>
          <a:solidFill>
            <a:srgbClr val="13203A"/>
          </a:solidFill>
          <a:ln w="15875">
            <a:solidFill>
              <a:srgbClr val="00F5C4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536192"/>
            <a:ext cx="384048" cy="384048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1417320" y="155448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F5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PROVEN // COMMITTED, REPRODUCIBLE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914400" y="2057400"/>
            <a:ext cx="48463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failures caught in DFT, CCSD(T), and DMRG on industrial chemistry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laboratory-verified ground-state calls — one cryptographically blind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Audit-at-scale: 38q reference corrected AND χ-escalation counter-audit held (χ=400/800/1200 all above the audit)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 accuracy certified at the 40-qubit flagship — pre-registered P1 + P2 PASS (plus exact 20q, chem-acc 28q)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6217920" y="1280160"/>
            <a:ext cx="5349240" cy="3749040"/>
          </a:xfrm>
          <a:prstGeom prst="roundRect">
            <a:avLst>
              <a:gd name="adj" fmla="val 1463"/>
            </a:avLst>
          </a:prstGeom>
          <a:solidFill>
            <a:srgbClr val="13203A"/>
          </a:solidFill>
          <a:ln w="15875">
            <a:solidFill>
              <a:srgbClr val="4DD8FF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36192"/>
            <a:ext cx="384048" cy="384048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6995160" y="155448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ROADMAP // STATED AS SUCH, NEVER AS DONE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6492240" y="2057400"/>
            <a:ext cx="48463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Device-sampled selection at 40q: seed committed, protocol frozen (E2) — execution awaits compute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trapped-ion QPU results — verified circuits already queued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Broader chemistry coverage beyond the demonstrated oxide classes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Device-sampled selection moving the certified frontier past 40 qubits</a:t>
            </a:r>
            <a:endParaRPr lang="en-US" sz="1350" dirty="0"/>
          </a:p>
        </p:txBody>
      </p:sp>
      <p:sp>
        <p:nvSpPr>
          <p:cNvPr id="25" name="Shape 21"/>
          <p:cNvSpPr/>
          <p:nvPr/>
        </p:nvSpPr>
        <p:spPr>
          <a:xfrm>
            <a:off x="640080" y="5349240"/>
            <a:ext cx="10927080" cy="1005840"/>
          </a:xfrm>
          <a:prstGeom prst="roundRect">
            <a:avLst>
              <a:gd name="adj" fmla="val 8182"/>
            </a:avLst>
          </a:prstGeom>
          <a:solidFill>
            <a:srgbClr val="00F5C4"/>
          </a:solidFill>
          <a:ln/>
        </p:spPr>
      </p:sp>
      <p:sp>
        <p:nvSpPr>
          <p:cNvPr id="26" name="Text 22"/>
          <p:cNvSpPr/>
          <p:nvPr/>
        </p:nvSpPr>
        <p:spPr>
          <a:xfrm>
            <a:off x="914400" y="534924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060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ask: </a:t>
            </a:r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060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the MATGEN-Q audit on the decision-gate numbers of one live screening program — and count the dead-ends it removes.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2026-07-19T23:21:38Z</dcterms:created>
  <dcterms:modified xsi:type="dcterms:W3CDTF">2026-07-19T23:21:38Z</dcterms:modified>
</cp:coreProperties>
</file>