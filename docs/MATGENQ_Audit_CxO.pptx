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0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15600" y="822960"/>
            <a:ext cx="109728" cy="109728"/>
          </a:xfrm>
          <a:prstGeom prst="ellipse">
            <a:avLst/>
          </a:prstGeom>
          <a:solidFill>
            <a:srgbClr val="CADCFC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247120" y="1463040"/>
            <a:ext cx="155448" cy="155448"/>
          </a:xfrm>
          <a:prstGeom prst="ellipse">
            <a:avLst/>
          </a:prstGeom>
          <a:solidFill>
            <a:srgbClr val="02C39A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881360" y="2377440"/>
            <a:ext cx="201168" cy="201168"/>
          </a:xfrm>
          <a:prstGeom prst="ellipse">
            <a:avLst/>
          </a:prstGeom>
          <a:solidFill>
            <a:srgbClr val="CADCFC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612880" y="3108960"/>
            <a:ext cx="109728" cy="109728"/>
          </a:xfrm>
          <a:prstGeom prst="ellipse">
            <a:avLst/>
          </a:prstGeom>
          <a:solidFill>
            <a:srgbClr val="02C39A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0" y="3931920"/>
            <a:ext cx="155448" cy="155448"/>
          </a:xfrm>
          <a:prstGeom prst="ellipse">
            <a:avLst/>
          </a:prstGeom>
          <a:solidFill>
            <a:srgbClr val="CADCFC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338560" y="4846320"/>
            <a:ext cx="201168" cy="201168"/>
          </a:xfrm>
          <a:prstGeom prst="ellipse">
            <a:avLst/>
          </a:prstGeom>
          <a:solidFill>
            <a:srgbClr val="02C39A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789920" y="5760720"/>
            <a:ext cx="109728" cy="109728"/>
          </a:xfrm>
          <a:prstGeom prst="ellipse">
            <a:avLst/>
          </a:prstGeom>
          <a:solidFill>
            <a:srgbClr val="CADCFC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6035040"/>
            <a:ext cx="155448" cy="155448"/>
          </a:xfrm>
          <a:prstGeom prst="ellipse">
            <a:avLst/>
          </a:prstGeom>
          <a:solidFill>
            <a:srgbClr val="02C39A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371600" y="5577840"/>
            <a:ext cx="201168" cy="201168"/>
          </a:xfrm>
          <a:prstGeom prst="ellipse">
            <a:avLst/>
          </a:prstGeom>
          <a:solidFill>
            <a:srgbClr val="CADCFC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22960" y="4754880"/>
            <a:ext cx="109728" cy="109728"/>
          </a:xfrm>
          <a:prstGeom prst="ellipse">
            <a:avLst/>
          </a:prstGeom>
          <a:solidFill>
            <a:srgbClr val="02C39A">
              <a:alpha val="4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822960" y="777240"/>
            <a:ext cx="777240" cy="777240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5042" y="979322"/>
            <a:ext cx="373075" cy="373075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777240" y="173736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MATGEN-Q</a:t>
            </a:r>
            <a:endParaRPr lang="en-US" sz="5400" dirty="0"/>
          </a:p>
        </p:txBody>
      </p:sp>
      <p:sp>
        <p:nvSpPr>
          <p:cNvPr id="15" name="Text 12"/>
          <p:cNvSpPr/>
          <p:nvPr/>
        </p:nvSpPr>
        <p:spPr>
          <a:xfrm>
            <a:off x="822960" y="26974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Audit Layer for Materials R&amp;D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822960" y="3429000"/>
            <a:ext cx="9601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Computational chemistry that knows which side of the truth it is on —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proves when the standard methods are silently wrong.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822960" y="4892040"/>
            <a:ext cx="4754880" cy="0"/>
          </a:xfrm>
          <a:prstGeom prst="line">
            <a:avLst/>
          </a:prstGeom>
          <a:noFill/>
          <a:ln w="19050">
            <a:solidFill>
              <a:srgbClr val="232E6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50749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EIGENNEXUS  ·  GIC 2026 Advanced Materials Finalist (Mitsubishi Chemical &amp; AIST)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on every slide is committed, reproducible evidence — one command, 24 automated checks.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“gold standard” fails silently — we caught all three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R&amp;D advances candidates to synthesis based on computed numbers nobody can double-check. We audited the standard toolchain on real industrial chemistry: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520440" cy="3200400"/>
          </a:xfrm>
          <a:prstGeom prst="roundRect">
            <a:avLst>
              <a:gd name="adj" fmla="val 2571"/>
            </a:avLst>
          </a:prstGeom>
          <a:solidFill>
            <a:srgbClr val="F3F6FC"/>
          </a:solidFill>
          <a:ln/>
          <a:effectLst>
            <a:outerShdw sx="100000" sy="100000" kx="0" ky="0" algn="bl" rotWithShape="0" blurRad="88900" dist="25400" dir="5400000">
              <a:srgbClr val="9AA3B2">
                <a:alpha val="3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2057400"/>
            <a:ext cx="384048" cy="3840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203911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TIER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1417320" y="228600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DFT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896112" y="29260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750" b="1" dirty="0">
                <a:solidFill>
                  <a:srgbClr val="C13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ground state</a:t>
            </a:r>
            <a:endParaRPr lang="en-US" sz="1750" dirty="0"/>
          </a:p>
        </p:txBody>
      </p:sp>
      <p:sp>
        <p:nvSpPr>
          <p:cNvPr id="9" name="Text 6"/>
          <p:cNvSpPr/>
          <p:nvPr/>
        </p:nvSpPr>
        <p:spPr>
          <a:xfrm>
            <a:off x="896112" y="3721608"/>
            <a:ext cx="30083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 spin state: functionals disagree by 1.9 eV; B3LYP inverts the answer outright — a screen built on it mis-ranks every CrO-like candidate.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416552" y="1783080"/>
            <a:ext cx="3520440" cy="3200400"/>
          </a:xfrm>
          <a:prstGeom prst="roundRect">
            <a:avLst>
              <a:gd name="adj" fmla="val 2571"/>
            </a:avLst>
          </a:prstGeom>
          <a:solidFill>
            <a:srgbClr val="F3F6FC"/>
          </a:solidFill>
          <a:ln/>
          <a:effectLst>
            <a:outerShdw sx="100000" sy="100000" kx="0" ky="0" algn="bl" rotWithShape="0" blurRad="88900" dist="25400" dir="5400000">
              <a:srgbClr val="9AA3B2">
                <a:alpha val="32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2584" y="2057400"/>
            <a:ext cx="384048" cy="38404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193792" y="203911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TIER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5193792" y="228600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CCSD(T)</a:t>
            </a:r>
            <a:endParaRPr lang="en-US" sz="2400" dirty="0"/>
          </a:p>
        </p:txBody>
      </p:sp>
      <p:sp>
        <p:nvSpPr>
          <p:cNvPr id="14" name="Text 10"/>
          <p:cNvSpPr/>
          <p:nvPr/>
        </p:nvSpPr>
        <p:spPr>
          <a:xfrm>
            <a:off x="4672584" y="29260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750" b="1" dirty="0">
                <a:solidFill>
                  <a:srgbClr val="C13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 by 217 mHa — confidently</a:t>
            </a:r>
            <a:endParaRPr lang="en-US" sz="1750" dirty="0"/>
          </a:p>
        </p:txBody>
      </p:sp>
      <p:sp>
        <p:nvSpPr>
          <p:cNvPr id="15" name="Text 11"/>
          <p:cNvSpPr/>
          <p:nvPr/>
        </p:nvSpPr>
        <p:spPr>
          <a:xfrm>
            <a:off x="4672584" y="3721608"/>
            <a:ext cx="30083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Collapses non-variationally below the exact energy on bond-breaking — precise-looking, unphysical, and it never warns you.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193024" y="1783080"/>
            <a:ext cx="3520440" cy="3200400"/>
          </a:xfrm>
          <a:prstGeom prst="roundRect">
            <a:avLst>
              <a:gd name="adj" fmla="val 2571"/>
            </a:avLst>
          </a:prstGeom>
          <a:solidFill>
            <a:srgbClr val="F3F6FC"/>
          </a:solidFill>
          <a:ln/>
          <a:effectLst>
            <a:outerShdw sx="100000" sy="100000" kx="0" ky="0" algn="bl" rotWithShape="0" blurRad="88900" dist="25400" dir="5400000">
              <a:srgbClr val="9AA3B2">
                <a:alpha val="32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9056" y="2057400"/>
            <a:ext cx="384048" cy="38404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970264" y="203911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TIER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8970264" y="228600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DMRG</a:t>
            </a:r>
            <a:endParaRPr lang="en-US" sz="2400" dirty="0"/>
          </a:p>
        </p:txBody>
      </p:sp>
      <p:sp>
        <p:nvSpPr>
          <p:cNvPr id="20" name="Text 15"/>
          <p:cNvSpPr/>
          <p:nvPr/>
        </p:nvSpPr>
        <p:spPr>
          <a:xfrm>
            <a:off x="8449056" y="29260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750" b="1" dirty="0">
                <a:solidFill>
                  <a:srgbClr val="C13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 mHa silent truncation error</a:t>
            </a:r>
            <a:endParaRPr lang="en-US" sz="1750" dirty="0"/>
          </a:p>
        </p:txBody>
      </p:sp>
      <p:sp>
        <p:nvSpPr>
          <p:cNvPr id="21" name="Text 16"/>
          <p:cNvSpPr/>
          <p:nvPr/>
        </p:nvSpPr>
        <p:spPr>
          <a:xfrm>
            <a:off x="8449056" y="3721608"/>
            <a:ext cx="30083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realistic 38-qubit transition-metal problem, the heavy-artillery reference itself was off by ~1.9 kcal/mol — detected only by our audit.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640080" y="5349240"/>
            <a:ext cx="10927080" cy="960120"/>
          </a:xfrm>
          <a:prstGeom prst="roundRect">
            <a:avLst>
              <a:gd name="adj" fmla="val 8571"/>
            </a:avLst>
          </a:prstGeom>
          <a:solidFill>
            <a:srgbClr val="16205B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605272"/>
            <a:ext cx="457200" cy="45720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600200" y="5440680"/>
            <a:ext cx="9784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of a silent failure: </a:t>
            </a:r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mis-ranked candidate sends a synthesis campaign after a dead end — $100k to $1M+ </a:t>
            </a:r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staff, materials, and lost time before the lab finds out.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620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audit: a measuring tape that can only read long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properties no standard method has — each mathematical or demonstrated, not promised: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927080" cy="1234440"/>
          </a:xfrm>
          <a:prstGeom prst="roundRect">
            <a:avLst>
              <a:gd name="adj" fmla="val 6667"/>
            </a:avLst>
          </a:prstGeom>
          <a:solidFill>
            <a:srgbClr val="232E6E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066544"/>
            <a:ext cx="658368" cy="658368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5576" y="2237720"/>
            <a:ext cx="316017" cy="31601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74520" y="1929384"/>
            <a:ext cx="9418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One-sided by construction</a:t>
            </a:r>
            <a:endParaRPr lang="en-US" sz="1850" dirty="0"/>
          </a:p>
        </p:txBody>
      </p:sp>
      <p:sp>
        <p:nvSpPr>
          <p:cNvPr id="8" name="Text 5"/>
          <p:cNvSpPr/>
          <p:nvPr/>
        </p:nvSpPr>
        <p:spPr>
          <a:xfrm>
            <a:off x="1874520" y="2313432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energy can never fall below the truth — a guarantee of mathematics, not testing. It always knows which side of the answer it is on.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40080" y="3200400"/>
            <a:ext cx="10927080" cy="1234440"/>
          </a:xfrm>
          <a:prstGeom prst="roundRect">
            <a:avLst>
              <a:gd name="adj" fmla="val 6667"/>
            </a:avLst>
          </a:prstGeom>
          <a:solidFill>
            <a:srgbClr val="232E6E"/>
          </a:solidFill>
          <a:ln/>
        </p:spPr>
      </p:sp>
      <p:sp>
        <p:nvSpPr>
          <p:cNvPr id="10" name="Shape 7"/>
          <p:cNvSpPr/>
          <p:nvPr/>
        </p:nvSpPr>
        <p:spPr>
          <a:xfrm>
            <a:off x="914400" y="3483864"/>
            <a:ext cx="658368" cy="658368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576" y="3655040"/>
            <a:ext cx="316017" cy="31601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74520" y="3346704"/>
            <a:ext cx="9418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Self-certifying</a:t>
            </a:r>
            <a:endParaRPr lang="en-US" sz="1850" dirty="0"/>
          </a:p>
        </p:txBody>
      </p:sp>
      <p:sp>
        <p:nvSpPr>
          <p:cNvPr id="13" name="Text 9"/>
          <p:cNvSpPr/>
          <p:nvPr/>
        </p:nvSpPr>
        <p:spPr>
          <a:xfrm>
            <a:off x="1874520" y="37307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result carries its own error estimate that shrinks as compute is added (demonstrated tracking reality at R² = 0.999). When the bar is under chemical accuracy, the number is the truth for every practical purpose.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40080" y="4617720"/>
            <a:ext cx="10927080" cy="1234440"/>
          </a:xfrm>
          <a:prstGeom prst="roundRect">
            <a:avLst>
              <a:gd name="adj" fmla="val 6667"/>
            </a:avLst>
          </a:prstGeom>
          <a:solidFill>
            <a:srgbClr val="232E6E"/>
          </a:solidFill>
          <a:ln/>
        </p:spPr>
      </p:sp>
      <p:sp>
        <p:nvSpPr>
          <p:cNvPr id="15" name="Shape 11"/>
          <p:cNvSpPr/>
          <p:nvPr/>
        </p:nvSpPr>
        <p:spPr>
          <a:xfrm>
            <a:off x="914400" y="4901184"/>
            <a:ext cx="658368" cy="658368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5576" y="5072360"/>
            <a:ext cx="316017" cy="316017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74520" y="4764024"/>
            <a:ext cx="9418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Convicts other methods — even before full convergence</a:t>
            </a:r>
            <a:endParaRPr lang="en-US" sz="1850" dirty="0"/>
          </a:p>
        </p:txBody>
      </p:sp>
      <p:sp>
        <p:nvSpPr>
          <p:cNvPr id="18" name="Text 13"/>
          <p:cNvSpPr/>
          <p:nvPr/>
        </p:nvSpPr>
        <p:spPr>
          <a:xfrm>
            <a:off x="1874520" y="5148072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answer sitting on the impossible side of the audit’s bound is provably wrong. No expert judgment call, no debate — that is how CCSD(T) and the DMRG reference were caught.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640080" y="6053328"/>
            <a:ext cx="10927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b="1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“It always knows which side of the truth it is on, always knows roughly how far, becomes the truth if you pay enough compute — and can convict other methods of being wrong even before it gets there.”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stamp covers — and what it doesn’t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guarantee is a scalpel, not a blanket. Four tiers of claim, each labeled on the product itself: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1060704"/>
          </a:xfrm>
          <a:prstGeom prst="roundRect">
            <a:avLst>
              <a:gd name="adj" fmla="val 7759"/>
            </a:avLst>
          </a:prstGeom>
          <a:solidFill>
            <a:srgbClr val="F3F6FC"/>
          </a:solidFill>
          <a:ln/>
          <a:effectLst>
            <a:outerShdw sx="100000" sy="100000" kx="0" ky="0" algn="bl" rotWithShape="0" blurRad="76200" dist="25400" dir="5400000">
              <a:srgbClr val="9AA3B2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837944"/>
            <a:ext cx="585216" cy="585216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8268" y="1990100"/>
            <a:ext cx="280904" cy="28090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37360" y="170992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energies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1737360" y="207568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variational bound and its error certificate apply directly — mathematics, not benchmarking. Every point of the CrO bond-breaking curve held to ≤2.8 mHa while CCSD(T) drifted by up to ~140.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9738360" y="1975104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018A6D"/>
          </a:solidFill>
          <a:ln/>
        </p:spPr>
      </p:sp>
      <p:sp>
        <p:nvSpPr>
          <p:cNvPr id="10" name="Text 7"/>
          <p:cNvSpPr/>
          <p:nvPr/>
        </p:nvSpPr>
        <p:spPr>
          <a:xfrm>
            <a:off x="9738360" y="1961388"/>
            <a:ext cx="1645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GUARANTEED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40080" y="2788920"/>
            <a:ext cx="10927080" cy="1060704"/>
          </a:xfrm>
          <a:prstGeom prst="roundRect">
            <a:avLst>
              <a:gd name="adj" fmla="val 7759"/>
            </a:avLst>
          </a:prstGeom>
          <a:solidFill>
            <a:srgbClr val="F3F6FC"/>
          </a:solidFill>
          <a:ln/>
          <a:effectLst>
            <a:outerShdw sx="100000" sy="100000" kx="0" ky="0" algn="bl" rotWithShape="0" blurRad="76200" dist="25400" dir="5400000">
              <a:srgbClr val="9AA3B2">
                <a:alpha val="3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896112" y="3026664"/>
            <a:ext cx="585216" cy="585216"/>
          </a:xfrm>
          <a:prstGeom prst="ellipse">
            <a:avLst/>
          </a:prstGeom>
          <a:solidFill>
            <a:srgbClr val="F0A202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268" y="3178820"/>
            <a:ext cx="280904" cy="28090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737360" y="289864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differences — spin gaps, barriers</a:t>
            </a:r>
            <a:endParaRPr lang="en-US" sz="1650" dirty="0"/>
          </a:p>
        </p:txBody>
      </p:sp>
      <p:sp>
        <p:nvSpPr>
          <p:cNvPr id="15" name="Text 11"/>
          <p:cNvSpPr/>
          <p:nvPr/>
        </p:nvSpPr>
        <p:spPr>
          <a:xfrm>
            <a:off x="1737360" y="326440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difference of two one-sided bounds is not itself one-sided. A verdict is issued only after each state is individually converged to certified accuracy — exactly how the CrO and blind VO ground-state calls were made.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9738360" y="3163824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018A6D"/>
          </a:solidFill>
          <a:ln/>
        </p:spPr>
      </p:sp>
      <p:sp>
        <p:nvSpPr>
          <p:cNvPr id="17" name="Text 13"/>
          <p:cNvSpPr/>
          <p:nvPr/>
        </p:nvSpPr>
        <p:spPr>
          <a:xfrm>
            <a:off x="9738360" y="3150108"/>
            <a:ext cx="1645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640080" y="3977640"/>
            <a:ext cx="10927080" cy="1060704"/>
          </a:xfrm>
          <a:prstGeom prst="roundRect">
            <a:avLst>
              <a:gd name="adj" fmla="val 7759"/>
            </a:avLst>
          </a:prstGeom>
          <a:solidFill>
            <a:srgbClr val="F3F6FC"/>
          </a:solidFill>
          <a:ln/>
          <a:effectLst>
            <a:outerShdw sx="100000" sy="100000" kx="0" ky="0" algn="bl" rotWithShape="0" blurRad="76200" dist="25400" dir="5400000">
              <a:srgbClr val="9AA3B2">
                <a:alpha val="30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96112" y="4215384"/>
            <a:ext cx="585216" cy="585216"/>
          </a:xfrm>
          <a:prstGeom prst="ellipse">
            <a:avLst/>
          </a:prstGeom>
          <a:solidFill>
            <a:srgbClr val="F0A202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8268" y="4367540"/>
            <a:ext cx="280904" cy="280904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737360" y="408736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Extrapolated &amp; derived quantities</a:t>
            </a:r>
            <a:endParaRPr lang="en-US" sz="1650" dirty="0"/>
          </a:p>
        </p:txBody>
      </p:sp>
      <p:sp>
        <p:nvSpPr>
          <p:cNvPr id="22" name="Text 17"/>
          <p:cNvSpPr/>
          <p:nvPr/>
        </p:nvSpPr>
        <p:spPr>
          <a:xfrm>
            <a:off x="1737360" y="445312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certificate’s extrapolation to the exact answer (demonstrated R² = 0.999) is a best estimate, not a bound. The evidence files carry that distinction explicitly — an estimate is never quoted as a guarantee.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9738360" y="4352544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9C6A00"/>
          </a:solidFill>
          <a:ln/>
        </p:spPr>
      </p:sp>
      <p:sp>
        <p:nvSpPr>
          <p:cNvPr id="24" name="Text 19"/>
          <p:cNvSpPr/>
          <p:nvPr/>
        </p:nvSpPr>
        <p:spPr>
          <a:xfrm>
            <a:off x="9738360" y="4338828"/>
            <a:ext cx="1645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640080" y="5166360"/>
            <a:ext cx="10927080" cy="1060704"/>
          </a:xfrm>
          <a:prstGeom prst="roundRect">
            <a:avLst>
              <a:gd name="adj" fmla="val 7759"/>
            </a:avLst>
          </a:prstGeom>
          <a:solidFill>
            <a:srgbClr val="F3F6FC"/>
          </a:solidFill>
          <a:ln/>
          <a:effectLst>
            <a:outerShdw sx="100000" sy="100000" kx="0" ky="0" algn="bl" rotWithShape="0" blurRad="76200" dist="25400" dir="5400000">
              <a:srgbClr val="9AA3B2">
                <a:alpha val="30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896112" y="5404104"/>
            <a:ext cx="585216" cy="585216"/>
          </a:xfrm>
          <a:prstGeom prst="ellipse">
            <a:avLst/>
          </a:prstGeom>
          <a:solidFill>
            <a:srgbClr val="6B7280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268" y="5556260"/>
            <a:ext cx="280904" cy="280904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1737360" y="527608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upstream of the correlated solve</a:t>
            </a:r>
            <a:endParaRPr lang="en-US" sz="1650" dirty="0"/>
          </a:p>
        </p:txBody>
      </p:sp>
      <p:sp>
        <p:nvSpPr>
          <p:cNvPr id="29" name="Text 23"/>
          <p:cNvSpPr/>
          <p:nvPr/>
        </p:nvSpPr>
        <p:spPr>
          <a:xfrm>
            <a:off x="1737360" y="564184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Basis set, active-space choice, environment effects: shared assumptions across every method compared. The audit certifies the step where silent failures live — it does not pretend to certify the whole modeling stack.</a:t>
            </a:r>
            <a:endParaRPr lang="en-US" sz="1150" dirty="0"/>
          </a:p>
        </p:txBody>
      </p:sp>
      <p:sp>
        <p:nvSpPr>
          <p:cNvPr id="30" name="Shape 24"/>
          <p:cNvSpPr/>
          <p:nvPr/>
        </p:nvSpPr>
        <p:spPr>
          <a:xfrm>
            <a:off x="9738360" y="5541264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C13438"/>
          </a:solidFill>
          <a:ln/>
        </p:spPr>
      </p:sp>
      <p:sp>
        <p:nvSpPr>
          <p:cNvPr id="31" name="Text 25"/>
          <p:cNvSpPr/>
          <p:nvPr/>
        </p:nvSpPr>
        <p:spPr>
          <a:xfrm>
            <a:off x="9738360" y="5527548"/>
            <a:ext cx="1645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CLAIMED</a:t>
            </a:r>
            <a:endParaRPr lang="en-US" sz="1100" dirty="0"/>
          </a:p>
        </p:txBody>
      </p:sp>
      <p:sp>
        <p:nvSpPr>
          <p:cNvPr id="32" name="Text 26"/>
          <p:cNvSpPr/>
          <p:nvPr/>
        </p:nvSpPr>
        <p:spPr>
          <a:xfrm>
            <a:off x="640080" y="6400800"/>
            <a:ext cx="10927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stamp that states exactly what it covers is worth more than one that claims everything. </a:t>
            </a:r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taxonomy is printed on the product — every evidence file names its tier — not buried in a footnote.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Proof, not promises — audited against nature and at scale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5349240" cy="2194560"/>
          </a:xfrm>
          <a:prstGeom prst="roundRect">
            <a:avLst>
              <a:gd name="adj" fmla="val 3750"/>
            </a:avLst>
          </a:prstGeom>
          <a:solidFill>
            <a:srgbClr val="F3F6FC"/>
          </a:solidFill>
          <a:ln/>
          <a:effectLst>
            <a:outerShdw sx="100000" sy="100000" kx="0" ky="0" algn="bl" rotWithShape="0" blurRad="88900" dist="25400" dir="5400000">
              <a:srgbClr val="9AA3B2">
                <a:alpha val="3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96112" y="1472184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018A6D"/>
          </a:solidFill>
          <a:ln/>
        </p:spPr>
      </p:sp>
      <p:sp>
        <p:nvSpPr>
          <p:cNvPr id="5" name="Text 3"/>
          <p:cNvSpPr/>
          <p:nvPr/>
        </p:nvSpPr>
        <p:spPr>
          <a:xfrm>
            <a:off x="896112" y="1458468"/>
            <a:ext cx="1600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LAB-VERIFIED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96112" y="1856232"/>
            <a:ext cx="4837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 ground state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2276856"/>
            <a:ext cx="48371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8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DFT (B3LYP) predicts the wrong ground state. The audit predicts the one measured in the laboratory — decades of spectroscopy agree with us, not DFT.</a:t>
            </a:r>
            <a:endParaRPr lang="en-US" sz="1280" dirty="0"/>
          </a:p>
        </p:txBody>
      </p:sp>
      <p:sp>
        <p:nvSpPr>
          <p:cNvPr id="8" name="Shape 6"/>
          <p:cNvSpPr/>
          <p:nvPr/>
        </p:nvSpPr>
        <p:spPr>
          <a:xfrm>
            <a:off x="6245352" y="1234440"/>
            <a:ext cx="5349240" cy="2194560"/>
          </a:xfrm>
          <a:prstGeom prst="roundRect">
            <a:avLst>
              <a:gd name="adj" fmla="val 3750"/>
            </a:avLst>
          </a:prstGeom>
          <a:solidFill>
            <a:srgbClr val="F3F6FC"/>
          </a:solidFill>
          <a:ln/>
          <a:effectLst>
            <a:outerShdw sx="100000" sy="100000" kx="0" ky="0" algn="bl" rotWithShape="0" blurRad="88900" dist="25400" dir="5400000">
              <a:srgbClr val="9AA3B2">
                <a:alpha val="3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01384" y="1472184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018A6D"/>
          </a:solidFill>
          <a:ln/>
        </p:spPr>
      </p:sp>
      <p:sp>
        <p:nvSpPr>
          <p:cNvPr id="10" name="Text 8"/>
          <p:cNvSpPr/>
          <p:nvPr/>
        </p:nvSpPr>
        <p:spPr>
          <a:xfrm>
            <a:off x="6501384" y="1458468"/>
            <a:ext cx="1600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 TEST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501384" y="1856232"/>
            <a:ext cx="4837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 ground state — predicted blind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01384" y="2276856"/>
            <a:ext cx="48371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8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locked by cryptographic hash before the single frozen run. Result: matches the laboratory ground state. The audit is right when it cannot possibly peek.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640080" y="3630168"/>
            <a:ext cx="5349240" cy="2194560"/>
          </a:xfrm>
          <a:prstGeom prst="roundRect">
            <a:avLst>
              <a:gd name="adj" fmla="val 3750"/>
            </a:avLst>
          </a:prstGeom>
          <a:solidFill>
            <a:srgbClr val="F3F6FC"/>
          </a:solidFill>
          <a:ln/>
          <a:effectLst>
            <a:outerShdw sx="100000" sy="100000" kx="0" ky="0" algn="bl" rotWithShape="0" blurRad="88900" dist="25400" dir="5400000">
              <a:srgbClr val="9AA3B2">
                <a:alpha val="3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96112" y="3867912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C13438"/>
          </a:solidFill>
          <a:ln/>
        </p:spPr>
      </p:sp>
      <p:sp>
        <p:nvSpPr>
          <p:cNvPr id="15" name="Text 13"/>
          <p:cNvSpPr/>
          <p:nvPr/>
        </p:nvSpPr>
        <p:spPr>
          <a:xfrm>
            <a:off x="896112" y="3854196"/>
            <a:ext cx="1600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CONVICTION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96112" y="4251960"/>
            <a:ext cx="4837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CCSD(T) caught red-handed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96112" y="4672584"/>
            <a:ext cx="48371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8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answer sat 217 mHa below the exact energy — inside the region our bound proves impossible. The “accuracy gold standard,” convicted by mathematics.</a:t>
            </a:r>
            <a:endParaRPr lang="en-US" sz="1280" dirty="0"/>
          </a:p>
        </p:txBody>
      </p:sp>
      <p:sp>
        <p:nvSpPr>
          <p:cNvPr id="18" name="Shape 16"/>
          <p:cNvSpPr/>
          <p:nvPr/>
        </p:nvSpPr>
        <p:spPr>
          <a:xfrm>
            <a:off x="6245352" y="3630168"/>
            <a:ext cx="5349240" cy="2194560"/>
          </a:xfrm>
          <a:prstGeom prst="roundRect">
            <a:avLst>
              <a:gd name="adj" fmla="val 3750"/>
            </a:avLst>
          </a:prstGeom>
          <a:solidFill>
            <a:srgbClr val="F3F6FC"/>
          </a:solidFill>
          <a:ln/>
          <a:effectLst>
            <a:outerShdw sx="100000" sy="100000" kx="0" ky="0" algn="bl" rotWithShape="0" blurRad="88900" dist="25400" dir="5400000">
              <a:srgbClr val="9AA3B2">
                <a:alpha val="3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501384" y="3867912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C13438"/>
          </a:solidFill>
          <a:ln/>
        </p:spPr>
      </p:sp>
      <p:sp>
        <p:nvSpPr>
          <p:cNvPr id="20" name="Text 18"/>
          <p:cNvSpPr/>
          <p:nvPr/>
        </p:nvSpPr>
        <p:spPr>
          <a:xfrm>
            <a:off x="6501384" y="3854196"/>
            <a:ext cx="1600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SCALE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501384" y="4251960"/>
            <a:ext cx="4837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DMRG reference corrected — for $12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501384" y="4672584"/>
            <a:ext cx="48371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8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38 qubits on CrO, the audit landed below the trusted reference: provably closer to the truth. Compute cost of the audit: ~$12 and under 3 hours on a rented cloud GPU.</a:t>
            </a:r>
            <a:endParaRPr lang="en-US" sz="1280" dirty="0"/>
          </a:p>
        </p:txBody>
      </p:sp>
      <p:sp>
        <p:nvSpPr>
          <p:cNvPr id="23" name="Text 21"/>
          <p:cNvSpPr/>
          <p:nvPr/>
        </p:nvSpPr>
        <p:spPr>
          <a:xfrm>
            <a:off x="640080" y="6053328"/>
            <a:ext cx="10927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 print, stated openly: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mathematical guarantee applies to energies; verdicts comparing two states (spin gaps) are trusted only after each state is individually converged to certified accuracy — as the CrO and VO calls above were.</a:t>
            </a:r>
            <a:pPr indent="0" marL="0">
              <a:lnSpc>
                <a:spcPct val="112000"/>
              </a:lnSpc>
              <a:buNone/>
            </a:pP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the evidence base: NiO (second oxide class), Sn-oxide EUV photoresist chemistry, exact-to-the-digit GPU execution.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Triage, not replacement — audit the load-bearing welds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DFT keeps the screening job it is priced for. The audit sits at the one place errors become expensive: the go / no-go gate before synthesis.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5120640" cy="731520"/>
          </a:xfrm>
          <a:prstGeom prst="roundRect">
            <a:avLst>
              <a:gd name="adj" fmla="val 10000"/>
            </a:avLst>
          </a:prstGeom>
          <a:solidFill>
            <a:srgbClr val="CADCF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~10⁶ candidates — DFT screen (pennies each)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1550822" y="2788920"/>
            <a:ext cx="3482035" cy="731520"/>
          </a:xfrm>
          <a:prstGeom prst="roundRect">
            <a:avLst>
              <a:gd name="adj" fmla="val 10000"/>
            </a:avLst>
          </a:prstGeom>
          <a:solidFill>
            <a:srgbClr val="9DB8E8"/>
          </a:solidFill>
          <a:ln/>
        </p:spPr>
      </p:sp>
      <p:sp>
        <p:nvSpPr>
          <p:cNvPr id="7" name="Text 5"/>
          <p:cNvSpPr/>
          <p:nvPr/>
        </p:nvSpPr>
        <p:spPr>
          <a:xfrm>
            <a:off x="1642262" y="2788920"/>
            <a:ext cx="32991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~10² survivors — refined models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216506" y="3749040"/>
            <a:ext cx="2150669" cy="731520"/>
          </a:xfrm>
          <a:prstGeom prst="roundRect">
            <a:avLst>
              <a:gd name="adj" fmla="val 10000"/>
            </a:avLst>
          </a:prstGeom>
          <a:solidFill>
            <a:srgbClr val="16205B"/>
          </a:solidFill>
          <a:ln/>
        </p:spPr>
      </p:sp>
      <p:sp>
        <p:nvSpPr>
          <p:cNvPr id="9" name="Text 7"/>
          <p:cNvSpPr/>
          <p:nvPr/>
        </p:nvSpPr>
        <p:spPr>
          <a:xfrm>
            <a:off x="2307946" y="3749040"/>
            <a:ext cx="196778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Dozens: go / no-go synthesis decisions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1051560" y="4892040"/>
            <a:ext cx="4480560" cy="868680"/>
          </a:xfrm>
          <a:prstGeom prst="roundRect">
            <a:avLst>
              <a:gd name="adj" fmla="val 9474"/>
            </a:avLst>
          </a:prstGeom>
          <a:solidFill>
            <a:srgbClr val="02C39A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8448" y="5120640"/>
            <a:ext cx="411480" cy="4114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828800" y="489204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62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MATGEN-Q AUDIT — $10–100 per decisive number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3291840" y="4480560"/>
            <a:ext cx="0" cy="411480"/>
          </a:xfrm>
          <a:prstGeom prst="line">
            <a:avLst/>
          </a:prstGeom>
          <a:noFill/>
          <a:ln w="31750">
            <a:solidFill>
              <a:srgbClr val="018A6D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6400800" y="1828800"/>
            <a:ext cx="5120640" cy="1920240"/>
          </a:xfrm>
          <a:prstGeom prst="roundRect">
            <a:avLst>
              <a:gd name="adj" fmla="val 4286"/>
            </a:avLst>
          </a:prstGeom>
          <a:solidFill>
            <a:srgbClr val="F3F6FC"/>
          </a:solidFill>
          <a:ln/>
        </p:spPr>
      </p:sp>
      <p:sp>
        <p:nvSpPr>
          <p:cNvPr id="15" name="Text 12"/>
          <p:cNvSpPr/>
          <p:nvPr/>
        </p:nvSpPr>
        <p:spPr>
          <a:xfrm>
            <a:off x="6675120" y="201168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13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$100k – $1M+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6675120" y="26974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one synthesis campaign chasing a computationally mis-ranked candidate — the failure mode the audit exists to catch.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400800" y="3931920"/>
            <a:ext cx="5120640" cy="1828800"/>
          </a:xfrm>
          <a:prstGeom prst="roundRect">
            <a:avLst>
              <a:gd name="adj" fmla="val 4500"/>
            </a:avLst>
          </a:prstGeom>
          <a:solidFill>
            <a:srgbClr val="16205B"/>
          </a:solidFill>
          <a:ln/>
        </p:spPr>
      </p:sp>
      <p:sp>
        <p:nvSpPr>
          <p:cNvPr id="18" name="Text 15"/>
          <p:cNvSpPr/>
          <p:nvPr/>
        </p:nvSpPr>
        <p:spPr>
          <a:xfrm>
            <a:off x="6675120" y="41148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avoided dead-end per year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6675120" y="457200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 for the audit layer across an entire screening portfolio. It doesn’t need “millions saved” to be worth deploying — though that is where the mechanism points.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40080" y="5989320"/>
            <a:ext cx="10927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i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don’t X-ray every weld in the shipyard — you X-ray the ones the hull depends on.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 print, stated openly: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 not claim a validated market size. Coverage today is the demonstrated oxide classes, and the audit certifies the correlated-electron solve — the silent-failure part — not every assumption in the modeling stack. The defensible claim is the one above: one avoided dead-end pays for the layer.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now: it runs today, and the frontier only moves outward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10927080" cy="137160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/>
          <a:effectLst>
            <a:outerShdw sx="100000" sy="100000" kx="0" ky="0" algn="bl" rotWithShape="0" blurRad="76200" dist="25400" dir="5400000">
              <a:srgbClr val="9AA3B2">
                <a:alpha val="3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1664208"/>
            <a:ext cx="694944" cy="694944"/>
          </a:xfrm>
          <a:prstGeom prst="ellipse">
            <a:avLst/>
          </a:prstGeom>
          <a:solidFill>
            <a:srgbClr val="16205B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085" y="1844893"/>
            <a:ext cx="333573" cy="33357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920240" y="1490472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Executed on real hardware — today</a:t>
            </a:r>
            <a:endParaRPr lang="en-US" sz="1850" dirty="0"/>
          </a:p>
        </p:txBody>
      </p:sp>
      <p:sp>
        <p:nvSpPr>
          <p:cNvPr id="7" name="Text 4"/>
          <p:cNvSpPr/>
          <p:nvPr/>
        </p:nvSpPr>
        <p:spPr>
          <a:xfrm>
            <a:off x="1920240" y="1901952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to the digit at 20 qubits and chemically accurate at 28 on rented NVIDIA GPUs; reference-correcting at 38; the 40-qubit flagship in flight. No exotic infrastructure — cloud instances anyone can rent.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40080" y="2898648"/>
            <a:ext cx="10927080" cy="1371600"/>
          </a:xfrm>
          <a:prstGeom prst="roundRect">
            <a:avLst>
              <a:gd name="adj" fmla="val 6000"/>
            </a:avLst>
          </a:prstGeom>
          <a:solidFill>
            <a:srgbClr val="16205B"/>
          </a:solidFill>
          <a:ln/>
        </p:spPr>
      </p:sp>
      <p:sp>
        <p:nvSpPr>
          <p:cNvPr id="9" name="Shape 6"/>
          <p:cNvSpPr/>
          <p:nvPr/>
        </p:nvSpPr>
        <p:spPr>
          <a:xfrm>
            <a:off x="914400" y="3236976"/>
            <a:ext cx="694944" cy="694944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085" y="3417661"/>
            <a:ext cx="333573" cy="33357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920240" y="3063240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the quantum curve</a:t>
            </a:r>
            <a:endParaRPr lang="en-US" sz="1850" dirty="0"/>
          </a:p>
        </p:txBody>
      </p:sp>
      <p:sp>
        <p:nvSpPr>
          <p:cNvPr id="12" name="Text 8"/>
          <p:cNvSpPr/>
          <p:nvPr/>
        </p:nvSpPr>
        <p:spPr>
          <a:xfrm>
            <a:off x="1920240" y="347472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expensive step — selecting which configurations matter — is exactly what a quantum sampler does natively (CUDA-Q today, trapped-ion QPUs next: our verified circuits are already in the queue). As devices mature, certified truth gets cheaper every year.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40080" y="4471416"/>
            <a:ext cx="10927080" cy="137160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/>
          <a:effectLst>
            <a:outerShdw sx="100000" sy="100000" kx="0" ky="0" algn="bl" rotWithShape="0" blurRad="76200" dist="25400" dir="5400000">
              <a:srgbClr val="9AA3B2">
                <a:alpha val="3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914400" y="4809744"/>
            <a:ext cx="694944" cy="694944"/>
          </a:xfrm>
          <a:prstGeom prst="ellipse">
            <a:avLst/>
          </a:prstGeom>
          <a:solidFill>
            <a:srgbClr val="16205B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085" y="4990429"/>
            <a:ext cx="333573" cy="333573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920240" y="4636008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Credibility as a feature</a:t>
            </a:r>
            <a:endParaRPr lang="en-US" sz="1850" dirty="0"/>
          </a:p>
        </p:txBody>
      </p:sp>
      <p:sp>
        <p:nvSpPr>
          <p:cNvPr id="17" name="Text 12"/>
          <p:cNvSpPr/>
          <p:nvPr/>
        </p:nvSpPr>
        <p:spPr>
          <a:xfrm>
            <a:off x="1920240" y="5047488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Clinical-trial-style pre-registration, cryptographically frozen blind tests, published failures, and a one-command reproduction path with 24 automated checks. An audit you can audit.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640080" y="6199632"/>
            <a:ext cx="10927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Semiconductors (EUV photoresists) · catalysis · battery materials · magnetics — demonstrated on the chemistry these industries actually struggle with.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20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proven — and what is roadmap</a:t>
            </a:r>
            <a:endParaRPr lang="en-US" sz="3300" dirty="0"/>
          </a:p>
        </p:txBody>
      </p:sp>
      <p:sp>
        <p:nvSpPr>
          <p:cNvPr id="3" name="Shape 1"/>
          <p:cNvSpPr/>
          <p:nvPr/>
        </p:nvSpPr>
        <p:spPr>
          <a:xfrm>
            <a:off x="640080" y="1280160"/>
            <a:ext cx="5349240" cy="3749040"/>
          </a:xfrm>
          <a:prstGeom prst="roundRect">
            <a:avLst>
              <a:gd name="adj" fmla="val 2195"/>
            </a:avLst>
          </a:prstGeom>
          <a:solidFill>
            <a:srgbClr val="232E6E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536192"/>
            <a:ext cx="384048" cy="384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17320" y="151790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(committed, reproducible)</a:t>
            </a:r>
            <a:endParaRPr lang="en-US" sz="1550" dirty="0"/>
          </a:p>
        </p:txBody>
      </p:sp>
      <p:sp>
        <p:nvSpPr>
          <p:cNvPr id="6" name="Text 3"/>
          <p:cNvSpPr/>
          <p:nvPr/>
        </p:nvSpPr>
        <p:spPr>
          <a:xfrm>
            <a:off x="914400" y="2057400"/>
            <a:ext cx="48463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failures caught in DFT, CCSD(T), and DMRG on industrial chemistry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laboratory-verified ground-state calls — one cryptographically blind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Audit-at-scale: 38-qubit reference corrected for ~$12 of cloud compute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GPU execution (20q) and chemical accuracy beyond it (28q)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6217920" y="1280160"/>
            <a:ext cx="5349240" cy="3749040"/>
          </a:xfrm>
          <a:prstGeom prst="roundRect">
            <a:avLst>
              <a:gd name="adj" fmla="val 2195"/>
            </a:avLst>
          </a:prstGeom>
          <a:solidFill>
            <a:srgbClr val="232E6E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36192"/>
            <a:ext cx="384048" cy="38404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995160" y="151790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(stated as such, never as done)</a:t>
            </a:r>
            <a:endParaRPr lang="en-US" sz="1550" dirty="0"/>
          </a:p>
        </p:txBody>
      </p:sp>
      <p:sp>
        <p:nvSpPr>
          <p:cNvPr id="10" name="Text 6"/>
          <p:cNvSpPr/>
          <p:nvPr/>
        </p:nvSpPr>
        <p:spPr>
          <a:xfrm>
            <a:off x="6492240" y="2057400"/>
            <a:ext cx="48463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40-qubit certified pass — flagship run executing now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trapped-ion QPU results — verified circuits already queued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Broader chemistry coverage beyond the demonstrated oxide classes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Device-sampled selection moving the certified frontier past 40 qubits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349240"/>
            <a:ext cx="10927080" cy="1005840"/>
          </a:xfrm>
          <a:prstGeom prst="roundRect">
            <a:avLst>
              <a:gd name="adj" fmla="val 8182"/>
            </a:avLst>
          </a:prstGeom>
          <a:solidFill>
            <a:srgbClr val="02C39A"/>
          </a:solidFill>
          <a:ln/>
        </p:spPr>
      </p:sp>
      <p:sp>
        <p:nvSpPr>
          <p:cNvPr id="12" name="Text 8"/>
          <p:cNvSpPr/>
          <p:nvPr/>
        </p:nvSpPr>
        <p:spPr>
          <a:xfrm>
            <a:off x="914400" y="534924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62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ask: </a:t>
            </a:r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162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the MATGEN-Q audit on the decision-gate numbers of one live screening program — and count the dead-ends it removes.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2026-07-19T05:08:08Z</dcterms:created>
  <dcterms:modified xsi:type="dcterms:W3CDTF">2026-07-19T05:08:08Z</dcterms:modified>
</cp:coreProperties>
</file>